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8" r:id="rId3"/>
    <p:sldId id="261" r:id="rId4"/>
    <p:sldId id="266" r:id="rId5"/>
    <p:sldId id="267" r:id="rId6"/>
    <p:sldId id="262" r:id="rId7"/>
    <p:sldId id="269" r:id="rId8"/>
    <p:sldId id="271" r:id="rId9"/>
    <p:sldId id="270" r:id="rId10"/>
    <p:sldId id="268" r:id="rId11"/>
    <p:sldId id="265" r:id="rId12"/>
    <p:sldId id="275" r:id="rId13"/>
    <p:sldId id="274" r:id="rId14"/>
    <p:sldId id="277" r:id="rId15"/>
    <p:sldId id="273" r:id="rId16"/>
    <p:sldId id="263" r:id="rId17"/>
    <p:sldId id="264" r:id="rId18"/>
  </p:sldIdLst>
  <p:sldSz cx="12192000" cy="6858000"/>
  <p:notesSz cx="9144000" cy="6858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8CBA"/>
    <a:srgbClr val="745A94"/>
    <a:srgbClr val="B8007F"/>
    <a:srgbClr val="D60093"/>
    <a:srgbClr val="4274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2941" autoAdjust="0"/>
  </p:normalViewPr>
  <p:slideViewPr>
    <p:cSldViewPr>
      <p:cViewPr varScale="1">
        <p:scale>
          <a:sx n="74" d="100"/>
          <a:sy n="74" d="100"/>
        </p:scale>
        <p:origin x="82" y="125"/>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ghana Senthil" userId="12b239d1a3148145" providerId="LiveId" clId="{77936A08-F25F-48AB-96C8-442D37DBABF1}"/>
    <pc:docChg chg="custSel modSld">
      <pc:chgData name="Saghana Senthil" userId="12b239d1a3148145" providerId="LiveId" clId="{77936A08-F25F-48AB-96C8-442D37DBABF1}" dt="2025-11-04T06:42:49.229" v="3" actId="14100"/>
      <pc:docMkLst>
        <pc:docMk/>
      </pc:docMkLst>
      <pc:sldChg chg="delSp modSp mod">
        <pc:chgData name="Saghana Senthil" userId="12b239d1a3148145" providerId="LiveId" clId="{77936A08-F25F-48AB-96C8-442D37DBABF1}" dt="2025-11-04T06:42:49.229" v="3" actId="14100"/>
        <pc:sldMkLst>
          <pc:docMk/>
          <pc:sldMk cId="3829633965" sldId="265"/>
        </pc:sldMkLst>
        <pc:picChg chg="del">
          <ac:chgData name="Saghana Senthil" userId="12b239d1a3148145" providerId="LiveId" clId="{77936A08-F25F-48AB-96C8-442D37DBABF1}" dt="2025-11-04T06:42:40.898" v="0" actId="478"/>
          <ac:picMkLst>
            <pc:docMk/>
            <pc:sldMk cId="3829633965" sldId="265"/>
            <ac:picMk id="5" creationId="{CFA6478D-C3B9-7825-C50A-00BEF4E49D53}"/>
          </ac:picMkLst>
        </pc:picChg>
        <pc:picChg chg="mod">
          <ac:chgData name="Saghana Senthil" userId="12b239d1a3148145" providerId="LiveId" clId="{77936A08-F25F-48AB-96C8-442D37DBABF1}" dt="2025-11-04T06:42:49.229" v="3" actId="14100"/>
          <ac:picMkLst>
            <pc:docMk/>
            <pc:sldMk cId="3829633965" sldId="265"/>
            <ac:picMk id="7" creationId="{280B91DD-D853-E2D9-0B03-FE21A963EA3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D429143-5D81-4370-8552-A28EFD9B4AEF}" type="datetimeFigureOut">
              <a:rPr lang="en-IN" smtClean="0"/>
              <a:t>04-11-2025</a:t>
            </a:fld>
            <a:endParaRPr lang="en-IN"/>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53C6BA52-DD5C-4485-8915-EF513F1DA383}" type="slidenum">
              <a:rPr lang="en-IN" smtClean="0"/>
              <a:t>‹#›</a:t>
            </a:fld>
            <a:endParaRPr lang="en-IN"/>
          </a:p>
        </p:txBody>
      </p:sp>
    </p:spTree>
    <p:extLst>
      <p:ext uri="{BB962C8B-B14F-4D97-AF65-F5344CB8AC3E}">
        <p14:creationId xmlns:p14="http://schemas.microsoft.com/office/powerpoint/2010/main" val="1964527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C6BA52-DD5C-4485-8915-EF513F1DA383}" type="slidenum">
              <a:rPr lang="en-IN" smtClean="0"/>
              <a:t>1</a:t>
            </a:fld>
            <a:endParaRPr lang="en-IN"/>
          </a:p>
        </p:txBody>
      </p:sp>
    </p:spTree>
    <p:extLst>
      <p:ext uri="{BB962C8B-B14F-4D97-AF65-F5344CB8AC3E}">
        <p14:creationId xmlns:p14="http://schemas.microsoft.com/office/powerpoint/2010/main" val="3787520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C6BA52-DD5C-4485-8915-EF513F1DA383}" type="slidenum">
              <a:rPr lang="en-IN" smtClean="0"/>
              <a:t>3</a:t>
            </a:fld>
            <a:endParaRPr lang="en-IN"/>
          </a:p>
        </p:txBody>
      </p:sp>
    </p:spTree>
    <p:extLst>
      <p:ext uri="{BB962C8B-B14F-4D97-AF65-F5344CB8AC3E}">
        <p14:creationId xmlns:p14="http://schemas.microsoft.com/office/powerpoint/2010/main" val="4154117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7552E-E571-7C72-3662-8DACD0839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A3C5D-386B-BB03-A28E-1600735300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185FB-AC07-2502-91AC-29816836F2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7A58387-8663-66FC-318A-B7299FD5EF2E}"/>
              </a:ext>
            </a:extLst>
          </p:cNvPr>
          <p:cNvSpPr>
            <a:spLocks noGrp="1"/>
          </p:cNvSpPr>
          <p:nvPr>
            <p:ph type="sldNum" sz="quarter" idx="5"/>
          </p:nvPr>
        </p:nvSpPr>
        <p:spPr/>
        <p:txBody>
          <a:bodyPr/>
          <a:lstStyle/>
          <a:p>
            <a:fld id="{53C6BA52-DD5C-4485-8915-EF513F1DA383}" type="slidenum">
              <a:rPr lang="en-IN" smtClean="0"/>
              <a:t>5</a:t>
            </a:fld>
            <a:endParaRPr lang="en-IN"/>
          </a:p>
        </p:txBody>
      </p:sp>
    </p:spTree>
    <p:extLst>
      <p:ext uri="{BB962C8B-B14F-4D97-AF65-F5344CB8AC3E}">
        <p14:creationId xmlns:p14="http://schemas.microsoft.com/office/powerpoint/2010/main" val="1161121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C6BA52-DD5C-4485-8915-EF513F1DA383}" type="slidenum">
              <a:rPr lang="en-IN" smtClean="0"/>
              <a:t>11</a:t>
            </a:fld>
            <a:endParaRPr lang="en-IN"/>
          </a:p>
        </p:txBody>
      </p:sp>
    </p:spTree>
    <p:extLst>
      <p:ext uri="{BB962C8B-B14F-4D97-AF65-F5344CB8AC3E}">
        <p14:creationId xmlns:p14="http://schemas.microsoft.com/office/powerpoint/2010/main" val="1329512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C6BA52-DD5C-4485-8915-EF513F1DA383}" type="slidenum">
              <a:rPr lang="en-IN" smtClean="0"/>
              <a:t>16</a:t>
            </a:fld>
            <a:endParaRPr lang="en-IN"/>
          </a:p>
        </p:txBody>
      </p:sp>
    </p:spTree>
    <p:extLst>
      <p:ext uri="{BB962C8B-B14F-4D97-AF65-F5344CB8AC3E}">
        <p14:creationId xmlns:p14="http://schemas.microsoft.com/office/powerpoint/2010/main" val="2491410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677108"/>
          </a:xfrm>
          <a:prstGeom prst="rect">
            <a:avLst/>
          </a:prstGeom>
        </p:spPr>
        <p:txBody>
          <a:bodyPr/>
          <a:lstStyle>
            <a:lvl1pPr>
              <a:defRPr/>
            </a:lvl1pPr>
          </a:lstStyle>
          <a:p>
            <a:endParaRPr/>
          </a:p>
        </p:txBody>
      </p:sp>
      <p:sp>
        <p:nvSpPr>
          <p:cNvPr id="3" name="Holder 3"/>
          <p:cNvSpPr>
            <a:spLocks noGrp="1"/>
          </p:cNvSpPr>
          <p:nvPr>
            <p:ph type="subTitle" idx="4"/>
          </p:nvPr>
        </p:nvSpPr>
        <p:spPr>
          <a:xfrm>
            <a:off x="1828800" y="3840480"/>
            <a:ext cx="8534400" cy="492443"/>
          </a:xfrm>
          <a:prstGeom prst="rect">
            <a:avLst/>
          </a:prstGeom>
        </p:spPr>
        <p:txBody>
          <a:bodyPr/>
          <a:lstStyle>
            <a:lvl1pPr>
              <a:defRPr/>
            </a:lvl1pPr>
          </a:lstStyle>
          <a:p>
            <a:endParaRPr/>
          </a:p>
        </p:txBody>
      </p:sp>
      <p:sp>
        <p:nvSpPr>
          <p:cNvPr id="4" name="Holder 4">
            <a:extLst>
              <a:ext uri="{FF2B5EF4-FFF2-40B4-BE49-F238E27FC236}">
                <a16:creationId xmlns:a16="http://schemas.microsoft.com/office/drawing/2014/main" id="{06AB46D3-E2AD-6339-4EEC-0F0FB8C135EF}"/>
              </a:ext>
            </a:extLst>
          </p:cNvPr>
          <p:cNvSpPr>
            <a:spLocks noGrp="1"/>
          </p:cNvSpPr>
          <p:nvPr>
            <p:ph type="ftr" sz="quarter" idx="10"/>
          </p:nvPr>
        </p:nvSpPr>
        <p:spPr/>
        <p:txBody>
          <a:bodyPr/>
          <a:lstStyle>
            <a:lvl1pPr>
              <a:defRPr/>
            </a:lvl1pPr>
          </a:lstStyle>
          <a:p>
            <a:pPr>
              <a:defRPr/>
            </a:pPr>
            <a:endParaRPr/>
          </a:p>
        </p:txBody>
      </p:sp>
      <p:sp>
        <p:nvSpPr>
          <p:cNvPr id="5" name="Holder 5">
            <a:extLst>
              <a:ext uri="{FF2B5EF4-FFF2-40B4-BE49-F238E27FC236}">
                <a16:creationId xmlns:a16="http://schemas.microsoft.com/office/drawing/2014/main" id="{C541D1E5-FACF-A16E-372D-20EAA70DF19D}"/>
              </a:ext>
            </a:extLst>
          </p:cNvPr>
          <p:cNvSpPr>
            <a:spLocks noGrp="1"/>
          </p:cNvSpPr>
          <p:nvPr>
            <p:ph type="dt" sz="half" idx="11"/>
          </p:nvPr>
        </p:nvSpPr>
        <p:spPr/>
        <p:txBody>
          <a:bodyPr/>
          <a:lstStyle>
            <a:lvl1pPr>
              <a:defRPr/>
            </a:lvl1pPr>
          </a:lstStyle>
          <a:p>
            <a:pPr>
              <a:defRPr/>
            </a:pPr>
            <a:fld id="{1BE64F3C-81D7-4C97-80D0-BDBDA05E413D}" type="datetimeFigureOut">
              <a:rPr lang="en-US"/>
              <a:pPr>
                <a:defRPr/>
              </a:pPr>
              <a:t>11/4/2025</a:t>
            </a:fld>
            <a:endParaRPr lang="en-US"/>
          </a:p>
        </p:txBody>
      </p:sp>
      <p:sp>
        <p:nvSpPr>
          <p:cNvPr id="6" name="Holder 6">
            <a:extLst>
              <a:ext uri="{FF2B5EF4-FFF2-40B4-BE49-F238E27FC236}">
                <a16:creationId xmlns:a16="http://schemas.microsoft.com/office/drawing/2014/main" id="{E6568B51-37C5-6005-0316-746980EA7210}"/>
              </a:ext>
            </a:extLst>
          </p:cNvPr>
          <p:cNvSpPr>
            <a:spLocks noGrp="1"/>
          </p:cNvSpPr>
          <p:nvPr>
            <p:ph type="sldNum" sz="quarter" idx="12"/>
          </p:nvPr>
        </p:nvSpPr>
        <p:spPr/>
        <p:txBody>
          <a:bodyPr/>
          <a:lstStyle>
            <a:lvl1pPr>
              <a:defRPr/>
            </a:lvl1pPr>
          </a:lstStyle>
          <a:p>
            <a:fld id="{E406CD7D-6560-44C9-8A45-FF8618CE79D9}" type="slidenum">
              <a:rPr lang="en-US" altLang="en-US"/>
              <a:pPr/>
              <a:t>‹#›</a:t>
            </a:fld>
            <a:endParaRPr lang="en-US" altLang="en-US"/>
          </a:p>
        </p:txBody>
      </p:sp>
    </p:spTree>
    <p:extLst>
      <p:ext uri="{BB962C8B-B14F-4D97-AF65-F5344CB8AC3E}">
        <p14:creationId xmlns:p14="http://schemas.microsoft.com/office/powerpoint/2010/main" val="2655908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867834" y="1895475"/>
            <a:ext cx="2400300" cy="400110"/>
          </a:xfrm>
        </p:spPr>
        <p:txBody>
          <a:bodyPr/>
          <a:lstStyle>
            <a:lvl1pPr>
              <a:defRPr sz="2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867833" y="2441575"/>
            <a:ext cx="10907184" cy="369332"/>
          </a:xfrm>
        </p:spPr>
        <p:txBody>
          <a:bodyPr/>
          <a:lstStyle>
            <a:lvl1pPr>
              <a:defRPr sz="2400" b="0" i="0">
                <a:solidFill>
                  <a:schemeClr val="tx1"/>
                </a:solidFill>
                <a:latin typeface="Times New Roman"/>
                <a:cs typeface="Times New Roman"/>
              </a:defRPr>
            </a:lvl1pPr>
          </a:lstStyle>
          <a:p>
            <a:endParaRPr/>
          </a:p>
        </p:txBody>
      </p:sp>
      <p:sp>
        <p:nvSpPr>
          <p:cNvPr id="4" name="Holder 4">
            <a:extLst>
              <a:ext uri="{FF2B5EF4-FFF2-40B4-BE49-F238E27FC236}">
                <a16:creationId xmlns:a16="http://schemas.microsoft.com/office/drawing/2014/main" id="{90D022DE-CD5A-ECB8-E3C6-96DAEAF99B38}"/>
              </a:ext>
            </a:extLst>
          </p:cNvPr>
          <p:cNvSpPr>
            <a:spLocks noGrp="1"/>
          </p:cNvSpPr>
          <p:nvPr>
            <p:ph type="ftr" sz="quarter" idx="10"/>
          </p:nvPr>
        </p:nvSpPr>
        <p:spPr/>
        <p:txBody>
          <a:bodyPr/>
          <a:lstStyle>
            <a:lvl1pPr>
              <a:defRPr/>
            </a:lvl1pPr>
          </a:lstStyle>
          <a:p>
            <a:pPr>
              <a:defRPr/>
            </a:pPr>
            <a:endParaRPr/>
          </a:p>
        </p:txBody>
      </p:sp>
      <p:sp>
        <p:nvSpPr>
          <p:cNvPr id="5" name="Holder 5">
            <a:extLst>
              <a:ext uri="{FF2B5EF4-FFF2-40B4-BE49-F238E27FC236}">
                <a16:creationId xmlns:a16="http://schemas.microsoft.com/office/drawing/2014/main" id="{9F9DD7D6-09D7-D3BE-5582-0E3531F0668E}"/>
              </a:ext>
            </a:extLst>
          </p:cNvPr>
          <p:cNvSpPr>
            <a:spLocks noGrp="1"/>
          </p:cNvSpPr>
          <p:nvPr>
            <p:ph type="dt" sz="half" idx="11"/>
          </p:nvPr>
        </p:nvSpPr>
        <p:spPr/>
        <p:txBody>
          <a:bodyPr/>
          <a:lstStyle>
            <a:lvl1pPr>
              <a:defRPr/>
            </a:lvl1pPr>
          </a:lstStyle>
          <a:p>
            <a:pPr>
              <a:defRPr/>
            </a:pPr>
            <a:fld id="{7F387EF4-A96C-4449-B3CC-6CCF70483E22}" type="datetimeFigureOut">
              <a:rPr lang="en-US"/>
              <a:pPr>
                <a:defRPr/>
              </a:pPr>
              <a:t>11/4/2025</a:t>
            </a:fld>
            <a:endParaRPr lang="en-US"/>
          </a:p>
        </p:txBody>
      </p:sp>
      <p:sp>
        <p:nvSpPr>
          <p:cNvPr id="6" name="Holder 6">
            <a:extLst>
              <a:ext uri="{FF2B5EF4-FFF2-40B4-BE49-F238E27FC236}">
                <a16:creationId xmlns:a16="http://schemas.microsoft.com/office/drawing/2014/main" id="{47BDA9EF-C9C0-25D5-B027-9669DC3CFE68}"/>
              </a:ext>
            </a:extLst>
          </p:cNvPr>
          <p:cNvSpPr>
            <a:spLocks noGrp="1"/>
          </p:cNvSpPr>
          <p:nvPr>
            <p:ph type="sldNum" sz="quarter" idx="12"/>
          </p:nvPr>
        </p:nvSpPr>
        <p:spPr/>
        <p:txBody>
          <a:bodyPr/>
          <a:lstStyle>
            <a:lvl1pPr>
              <a:defRPr/>
            </a:lvl1pPr>
          </a:lstStyle>
          <a:p>
            <a:fld id="{F31C63C8-DC3D-433E-BB23-6216B1CBA45C}" type="slidenum">
              <a:rPr lang="en-US" altLang="en-US"/>
              <a:pPr/>
              <a:t>‹#›</a:t>
            </a:fld>
            <a:endParaRPr lang="en-US" altLang="en-US"/>
          </a:p>
        </p:txBody>
      </p:sp>
    </p:spTree>
    <p:extLst>
      <p:ext uri="{BB962C8B-B14F-4D97-AF65-F5344CB8AC3E}">
        <p14:creationId xmlns:p14="http://schemas.microsoft.com/office/powerpoint/2010/main" val="50517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867834" y="1895475"/>
            <a:ext cx="2400300" cy="400110"/>
          </a:xfrm>
        </p:spPr>
        <p:txBody>
          <a:bodyPr/>
          <a:lstStyle>
            <a:lvl1pPr>
              <a:defRPr sz="2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92443"/>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492443"/>
          </a:xfrm>
          <a:prstGeom prst="rect">
            <a:avLst/>
          </a:prstGeom>
        </p:spPr>
        <p:txBody>
          <a:bodyPr/>
          <a:lstStyle>
            <a:lvl1pPr>
              <a:defRPr/>
            </a:lvl1pPr>
          </a:lstStyle>
          <a:p>
            <a:endParaRPr/>
          </a:p>
        </p:txBody>
      </p:sp>
      <p:sp>
        <p:nvSpPr>
          <p:cNvPr id="5" name="Holder 4">
            <a:extLst>
              <a:ext uri="{FF2B5EF4-FFF2-40B4-BE49-F238E27FC236}">
                <a16:creationId xmlns:a16="http://schemas.microsoft.com/office/drawing/2014/main" id="{C7F86F70-89B8-808C-A4A4-547CB2760752}"/>
              </a:ext>
            </a:extLst>
          </p:cNvPr>
          <p:cNvSpPr>
            <a:spLocks noGrp="1"/>
          </p:cNvSpPr>
          <p:nvPr>
            <p:ph type="ftr" sz="quarter" idx="10"/>
          </p:nvPr>
        </p:nvSpPr>
        <p:spPr/>
        <p:txBody>
          <a:bodyPr/>
          <a:lstStyle>
            <a:lvl1pPr>
              <a:defRPr/>
            </a:lvl1pPr>
          </a:lstStyle>
          <a:p>
            <a:pPr>
              <a:defRPr/>
            </a:pPr>
            <a:endParaRPr/>
          </a:p>
        </p:txBody>
      </p:sp>
      <p:sp>
        <p:nvSpPr>
          <p:cNvPr id="6" name="Holder 5">
            <a:extLst>
              <a:ext uri="{FF2B5EF4-FFF2-40B4-BE49-F238E27FC236}">
                <a16:creationId xmlns:a16="http://schemas.microsoft.com/office/drawing/2014/main" id="{80571510-903F-7F0F-389F-D6ECDA18ACBC}"/>
              </a:ext>
            </a:extLst>
          </p:cNvPr>
          <p:cNvSpPr>
            <a:spLocks noGrp="1"/>
          </p:cNvSpPr>
          <p:nvPr>
            <p:ph type="dt" sz="half" idx="11"/>
          </p:nvPr>
        </p:nvSpPr>
        <p:spPr/>
        <p:txBody>
          <a:bodyPr/>
          <a:lstStyle>
            <a:lvl1pPr>
              <a:defRPr/>
            </a:lvl1pPr>
          </a:lstStyle>
          <a:p>
            <a:pPr>
              <a:defRPr/>
            </a:pPr>
            <a:fld id="{82A43DB7-CFF4-4002-AC49-04B42FB5E3BF}" type="datetimeFigureOut">
              <a:rPr lang="en-US"/>
              <a:pPr>
                <a:defRPr/>
              </a:pPr>
              <a:t>11/4/2025</a:t>
            </a:fld>
            <a:endParaRPr lang="en-US"/>
          </a:p>
        </p:txBody>
      </p:sp>
      <p:sp>
        <p:nvSpPr>
          <p:cNvPr id="7" name="Holder 6">
            <a:extLst>
              <a:ext uri="{FF2B5EF4-FFF2-40B4-BE49-F238E27FC236}">
                <a16:creationId xmlns:a16="http://schemas.microsoft.com/office/drawing/2014/main" id="{31D0F48D-5BB4-0C78-FA17-A89376B634DB}"/>
              </a:ext>
            </a:extLst>
          </p:cNvPr>
          <p:cNvSpPr>
            <a:spLocks noGrp="1"/>
          </p:cNvSpPr>
          <p:nvPr>
            <p:ph type="sldNum" sz="quarter" idx="12"/>
          </p:nvPr>
        </p:nvSpPr>
        <p:spPr/>
        <p:txBody>
          <a:bodyPr/>
          <a:lstStyle>
            <a:lvl1pPr>
              <a:defRPr/>
            </a:lvl1pPr>
          </a:lstStyle>
          <a:p>
            <a:fld id="{341D37C3-D839-44A7-AACF-C4637CC73427}" type="slidenum">
              <a:rPr lang="en-US" altLang="en-US"/>
              <a:pPr/>
              <a:t>‹#›</a:t>
            </a:fld>
            <a:endParaRPr lang="en-US" altLang="en-US"/>
          </a:p>
        </p:txBody>
      </p:sp>
    </p:spTree>
    <p:extLst>
      <p:ext uri="{BB962C8B-B14F-4D97-AF65-F5344CB8AC3E}">
        <p14:creationId xmlns:p14="http://schemas.microsoft.com/office/powerpoint/2010/main" val="235755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867834" y="1895475"/>
            <a:ext cx="2400300" cy="400110"/>
          </a:xfrm>
        </p:spPr>
        <p:txBody>
          <a:bodyPr/>
          <a:lstStyle>
            <a:lvl1pPr>
              <a:defRPr sz="2600" b="1" i="0">
                <a:solidFill>
                  <a:schemeClr val="tx1"/>
                </a:solidFill>
                <a:latin typeface="Times New Roman"/>
                <a:cs typeface="Times New Roman"/>
              </a:defRPr>
            </a:lvl1pPr>
          </a:lstStyle>
          <a:p>
            <a:endParaRPr/>
          </a:p>
        </p:txBody>
      </p:sp>
      <p:sp>
        <p:nvSpPr>
          <p:cNvPr id="3" name="Holder 4">
            <a:extLst>
              <a:ext uri="{FF2B5EF4-FFF2-40B4-BE49-F238E27FC236}">
                <a16:creationId xmlns:a16="http://schemas.microsoft.com/office/drawing/2014/main" id="{5706DA7D-F8A5-44DD-44BC-B45CDAA41FAA}"/>
              </a:ext>
            </a:extLst>
          </p:cNvPr>
          <p:cNvSpPr>
            <a:spLocks noGrp="1"/>
          </p:cNvSpPr>
          <p:nvPr>
            <p:ph type="ftr" sz="quarter" idx="10"/>
          </p:nvPr>
        </p:nvSpPr>
        <p:spPr/>
        <p:txBody>
          <a:bodyPr/>
          <a:lstStyle>
            <a:lvl1pPr>
              <a:defRPr/>
            </a:lvl1pPr>
          </a:lstStyle>
          <a:p>
            <a:pPr>
              <a:defRPr/>
            </a:pPr>
            <a:endParaRPr/>
          </a:p>
        </p:txBody>
      </p:sp>
      <p:sp>
        <p:nvSpPr>
          <p:cNvPr id="4" name="Holder 5">
            <a:extLst>
              <a:ext uri="{FF2B5EF4-FFF2-40B4-BE49-F238E27FC236}">
                <a16:creationId xmlns:a16="http://schemas.microsoft.com/office/drawing/2014/main" id="{E4FACA8E-F3BF-BEB1-C80C-CE781E869C8D}"/>
              </a:ext>
            </a:extLst>
          </p:cNvPr>
          <p:cNvSpPr>
            <a:spLocks noGrp="1"/>
          </p:cNvSpPr>
          <p:nvPr>
            <p:ph type="dt" sz="half" idx="11"/>
          </p:nvPr>
        </p:nvSpPr>
        <p:spPr/>
        <p:txBody>
          <a:bodyPr/>
          <a:lstStyle>
            <a:lvl1pPr>
              <a:defRPr/>
            </a:lvl1pPr>
          </a:lstStyle>
          <a:p>
            <a:pPr>
              <a:defRPr/>
            </a:pPr>
            <a:fld id="{DCA37E71-F47E-41E4-8835-D3CA6283F64F}" type="datetimeFigureOut">
              <a:rPr lang="en-US"/>
              <a:pPr>
                <a:defRPr/>
              </a:pPr>
              <a:t>11/4/2025</a:t>
            </a:fld>
            <a:endParaRPr lang="en-US"/>
          </a:p>
        </p:txBody>
      </p:sp>
      <p:sp>
        <p:nvSpPr>
          <p:cNvPr id="5" name="Holder 6">
            <a:extLst>
              <a:ext uri="{FF2B5EF4-FFF2-40B4-BE49-F238E27FC236}">
                <a16:creationId xmlns:a16="http://schemas.microsoft.com/office/drawing/2014/main" id="{DF4394E0-1516-44DC-44FB-EEFCEB415598}"/>
              </a:ext>
            </a:extLst>
          </p:cNvPr>
          <p:cNvSpPr>
            <a:spLocks noGrp="1"/>
          </p:cNvSpPr>
          <p:nvPr>
            <p:ph type="sldNum" sz="quarter" idx="12"/>
          </p:nvPr>
        </p:nvSpPr>
        <p:spPr/>
        <p:txBody>
          <a:bodyPr/>
          <a:lstStyle>
            <a:lvl1pPr>
              <a:defRPr/>
            </a:lvl1pPr>
          </a:lstStyle>
          <a:p>
            <a:fld id="{E7F4515A-CBD8-4BCA-8AC7-BD28BDC89AC5}" type="slidenum">
              <a:rPr lang="en-US" altLang="en-US"/>
              <a:pPr/>
              <a:t>‹#›</a:t>
            </a:fld>
            <a:endParaRPr lang="en-US" altLang="en-US"/>
          </a:p>
        </p:txBody>
      </p:sp>
    </p:spTree>
    <p:extLst>
      <p:ext uri="{BB962C8B-B14F-4D97-AF65-F5344CB8AC3E}">
        <p14:creationId xmlns:p14="http://schemas.microsoft.com/office/powerpoint/2010/main" val="1324141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E6C4A5A9-6C1F-AAA3-B2FF-BD085DA14415}"/>
              </a:ext>
            </a:extLst>
          </p:cNvPr>
          <p:cNvSpPr>
            <a:spLocks noGrp="1"/>
          </p:cNvSpPr>
          <p:nvPr>
            <p:ph type="ftr" sz="quarter" idx="10"/>
          </p:nvPr>
        </p:nvSpPr>
        <p:spPr/>
        <p:txBody>
          <a:bodyPr/>
          <a:lstStyle>
            <a:lvl1pPr algn="ctr">
              <a:defRPr>
                <a:solidFill>
                  <a:schemeClr val="tx1">
                    <a:tint val="75000"/>
                  </a:schemeClr>
                </a:solidFill>
              </a:defRPr>
            </a:lvl1pPr>
          </a:lstStyle>
          <a:p>
            <a:pPr>
              <a:defRPr/>
            </a:pPr>
            <a:endParaRPr/>
          </a:p>
        </p:txBody>
      </p:sp>
      <p:sp>
        <p:nvSpPr>
          <p:cNvPr id="3" name="Holder 3">
            <a:extLst>
              <a:ext uri="{FF2B5EF4-FFF2-40B4-BE49-F238E27FC236}">
                <a16:creationId xmlns:a16="http://schemas.microsoft.com/office/drawing/2014/main" id="{83ADBE4A-B302-CC2C-9EAA-204EF03234D5}"/>
              </a:ext>
            </a:extLst>
          </p:cNvPr>
          <p:cNvSpPr>
            <a:spLocks noGrp="1"/>
          </p:cNvSpPr>
          <p:nvPr>
            <p:ph type="dt" sz="half" idx="11"/>
          </p:nvPr>
        </p:nvSpPr>
        <p:spPr/>
        <p:txBody>
          <a:bodyPr/>
          <a:lstStyle>
            <a:lvl1pPr algn="l">
              <a:defRPr>
                <a:solidFill>
                  <a:schemeClr val="tx1">
                    <a:tint val="75000"/>
                  </a:schemeClr>
                </a:solidFill>
              </a:defRPr>
            </a:lvl1pPr>
          </a:lstStyle>
          <a:p>
            <a:pPr>
              <a:defRPr/>
            </a:pPr>
            <a:fld id="{5EC78D44-EB65-475F-828E-DDDBE539D942}" type="datetimeFigureOut">
              <a:rPr lang="en-US"/>
              <a:pPr>
                <a:defRPr/>
              </a:pPr>
              <a:t>11/4/2025</a:t>
            </a:fld>
            <a:endParaRPr lang="en-US"/>
          </a:p>
        </p:txBody>
      </p:sp>
      <p:sp>
        <p:nvSpPr>
          <p:cNvPr id="4" name="Holder 4">
            <a:extLst>
              <a:ext uri="{FF2B5EF4-FFF2-40B4-BE49-F238E27FC236}">
                <a16:creationId xmlns:a16="http://schemas.microsoft.com/office/drawing/2014/main" id="{A5542E55-3C42-B62D-5979-BA64EF774343}"/>
              </a:ext>
            </a:extLst>
          </p:cNvPr>
          <p:cNvSpPr>
            <a:spLocks noGrp="1"/>
          </p:cNvSpPr>
          <p:nvPr>
            <p:ph type="sldNum" sz="quarter" idx="12"/>
          </p:nvPr>
        </p:nvSpPr>
        <p:spPr/>
        <p:txBody>
          <a:bodyPr/>
          <a:lstStyle>
            <a:lvl1pPr>
              <a:defRPr/>
            </a:lvl1pPr>
          </a:lstStyle>
          <a:p>
            <a:fld id="{6624B62F-2C77-4EF2-B509-BB5E406B03B3}" type="slidenum">
              <a:rPr lang="en-US" altLang="en-US"/>
              <a:pPr/>
              <a:t>‹#›</a:t>
            </a:fld>
            <a:endParaRPr lang="en-US" altLang="en-US"/>
          </a:p>
        </p:txBody>
      </p:sp>
    </p:spTree>
    <p:extLst>
      <p:ext uri="{BB962C8B-B14F-4D97-AF65-F5344CB8AC3E}">
        <p14:creationId xmlns:p14="http://schemas.microsoft.com/office/powerpoint/2010/main" val="18390004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a:extLst>
              <a:ext uri="{FF2B5EF4-FFF2-40B4-BE49-F238E27FC236}">
                <a16:creationId xmlns:a16="http://schemas.microsoft.com/office/drawing/2014/main" id="{F0ADEB0C-8358-4DC1-CB02-0830783BF800}"/>
              </a:ext>
            </a:extLst>
          </p:cNvPr>
          <p:cNvSpPr/>
          <p:nvPr/>
        </p:nvSpPr>
        <p:spPr>
          <a:xfrm>
            <a:off x="0" y="0"/>
            <a:ext cx="11379200" cy="1066800"/>
          </a:xfrm>
          <a:custGeom>
            <a:avLst/>
            <a:gdLst/>
            <a:ahLst/>
            <a:cxnLst/>
            <a:rect l="l" t="t" r="r" b="b"/>
            <a:pathLst>
              <a:path w="8534400" h="1067435">
                <a:moveTo>
                  <a:pt x="0" y="1067041"/>
                </a:moveTo>
                <a:lnTo>
                  <a:pt x="8534158" y="1067041"/>
                </a:lnTo>
                <a:lnTo>
                  <a:pt x="8534158" y="0"/>
                </a:lnTo>
                <a:lnTo>
                  <a:pt x="0" y="0"/>
                </a:lnTo>
                <a:lnTo>
                  <a:pt x="0" y="1067041"/>
                </a:lnTo>
                <a:close/>
              </a:path>
            </a:pathLst>
          </a:custGeom>
          <a:solidFill>
            <a:srgbClr val="1D24AD"/>
          </a:solidFill>
        </p:spPr>
        <p:txBody>
          <a:bodyPr lIns="0" tIns="0" rIns="0" bIns="0"/>
          <a:lstStyle/>
          <a:p>
            <a:pPr fontAlgn="auto">
              <a:spcBef>
                <a:spcPts val="0"/>
              </a:spcBef>
              <a:spcAft>
                <a:spcPts val="0"/>
              </a:spcAft>
              <a:defRPr/>
            </a:pPr>
            <a:endParaRPr>
              <a:latin typeface="+mn-lt"/>
              <a:cs typeface="+mn-cs"/>
            </a:endParaRPr>
          </a:p>
        </p:txBody>
      </p:sp>
      <p:sp>
        <p:nvSpPr>
          <p:cNvPr id="17" name="bg object 17">
            <a:extLst>
              <a:ext uri="{FF2B5EF4-FFF2-40B4-BE49-F238E27FC236}">
                <a16:creationId xmlns:a16="http://schemas.microsoft.com/office/drawing/2014/main" id="{7C654660-BBA0-8D68-0654-05FAE1EB0260}"/>
              </a:ext>
            </a:extLst>
          </p:cNvPr>
          <p:cNvSpPr/>
          <p:nvPr/>
        </p:nvSpPr>
        <p:spPr>
          <a:xfrm>
            <a:off x="12192000" y="0"/>
            <a:ext cx="0" cy="1066800"/>
          </a:xfrm>
          <a:custGeom>
            <a:avLst/>
            <a:gdLst/>
            <a:ahLst/>
            <a:cxnLst/>
            <a:rect l="l" t="t" r="r" b="b"/>
            <a:pathLst>
              <a:path w="634" h="1067435">
                <a:moveTo>
                  <a:pt x="0" y="1067041"/>
                </a:moveTo>
                <a:lnTo>
                  <a:pt x="355" y="1067041"/>
                </a:lnTo>
                <a:lnTo>
                  <a:pt x="355" y="0"/>
                </a:lnTo>
                <a:lnTo>
                  <a:pt x="0" y="0"/>
                </a:lnTo>
                <a:lnTo>
                  <a:pt x="0" y="1067041"/>
                </a:lnTo>
                <a:close/>
              </a:path>
            </a:pathLst>
          </a:custGeom>
          <a:solidFill>
            <a:srgbClr val="1D24AD"/>
          </a:solidFill>
        </p:spPr>
        <p:txBody>
          <a:bodyPr lIns="0" tIns="0" rIns="0" bIns="0"/>
          <a:lstStyle/>
          <a:p>
            <a:pPr fontAlgn="auto">
              <a:spcBef>
                <a:spcPts val="0"/>
              </a:spcBef>
              <a:spcAft>
                <a:spcPts val="0"/>
              </a:spcAft>
              <a:defRPr/>
            </a:pPr>
            <a:endParaRPr>
              <a:latin typeface="+mn-lt"/>
              <a:cs typeface="+mn-cs"/>
            </a:endParaRPr>
          </a:p>
        </p:txBody>
      </p:sp>
      <p:sp>
        <p:nvSpPr>
          <p:cNvPr id="18" name="bg object 18">
            <a:extLst>
              <a:ext uri="{FF2B5EF4-FFF2-40B4-BE49-F238E27FC236}">
                <a16:creationId xmlns:a16="http://schemas.microsoft.com/office/drawing/2014/main" id="{7795685D-83E4-1FCD-D937-7068B8D096E0}"/>
              </a:ext>
            </a:extLst>
          </p:cNvPr>
          <p:cNvSpPr/>
          <p:nvPr/>
        </p:nvSpPr>
        <p:spPr>
          <a:xfrm>
            <a:off x="11379200" y="0"/>
            <a:ext cx="812800" cy="1066800"/>
          </a:xfrm>
          <a:custGeom>
            <a:avLst/>
            <a:gdLst/>
            <a:ahLst/>
            <a:cxnLst/>
            <a:rect l="l" t="t" r="r" b="b"/>
            <a:pathLst>
              <a:path w="610234" h="1067435">
                <a:moveTo>
                  <a:pt x="609841" y="0"/>
                </a:moveTo>
                <a:lnTo>
                  <a:pt x="0" y="0"/>
                </a:lnTo>
                <a:lnTo>
                  <a:pt x="0" y="1067041"/>
                </a:lnTo>
                <a:lnTo>
                  <a:pt x="609841" y="1067041"/>
                </a:lnTo>
                <a:lnTo>
                  <a:pt x="609841" y="0"/>
                </a:lnTo>
                <a:close/>
              </a:path>
            </a:pathLst>
          </a:custGeom>
          <a:solidFill>
            <a:srgbClr val="E99213"/>
          </a:solidFill>
        </p:spPr>
        <p:txBody>
          <a:bodyPr lIns="0" tIns="0" rIns="0" bIns="0"/>
          <a:lstStyle/>
          <a:p>
            <a:pPr fontAlgn="auto">
              <a:spcBef>
                <a:spcPts val="0"/>
              </a:spcBef>
              <a:spcAft>
                <a:spcPts val="0"/>
              </a:spcAft>
              <a:defRPr/>
            </a:pPr>
            <a:endParaRPr>
              <a:latin typeface="+mn-lt"/>
              <a:cs typeface="+mn-cs"/>
            </a:endParaRPr>
          </a:p>
        </p:txBody>
      </p:sp>
      <p:sp>
        <p:nvSpPr>
          <p:cNvPr id="19" name="bg object 19">
            <a:extLst>
              <a:ext uri="{FF2B5EF4-FFF2-40B4-BE49-F238E27FC236}">
                <a16:creationId xmlns:a16="http://schemas.microsoft.com/office/drawing/2014/main" id="{7C981351-B430-8A8A-4DC0-407C82336D84}"/>
              </a:ext>
            </a:extLst>
          </p:cNvPr>
          <p:cNvSpPr/>
          <p:nvPr/>
        </p:nvSpPr>
        <p:spPr>
          <a:xfrm>
            <a:off x="11379200" y="0"/>
            <a:ext cx="812800" cy="1066800"/>
          </a:xfrm>
          <a:custGeom>
            <a:avLst/>
            <a:gdLst/>
            <a:ahLst/>
            <a:cxnLst/>
            <a:rect l="l" t="t" r="r" b="b"/>
            <a:pathLst>
              <a:path w="610234" h="1067435">
                <a:moveTo>
                  <a:pt x="0" y="0"/>
                </a:moveTo>
                <a:lnTo>
                  <a:pt x="609841" y="0"/>
                </a:lnTo>
                <a:lnTo>
                  <a:pt x="609841" y="1067041"/>
                </a:lnTo>
                <a:lnTo>
                  <a:pt x="0" y="1067041"/>
                </a:lnTo>
                <a:lnTo>
                  <a:pt x="0" y="0"/>
                </a:lnTo>
                <a:close/>
              </a:path>
            </a:pathLst>
          </a:custGeom>
          <a:ln w="25559">
            <a:solidFill>
              <a:srgbClr val="E99213"/>
            </a:solidFill>
          </a:ln>
        </p:spPr>
        <p:txBody>
          <a:bodyPr lIns="0" tIns="0" rIns="0" bIns="0"/>
          <a:lstStyle/>
          <a:p>
            <a:pPr fontAlgn="auto">
              <a:spcBef>
                <a:spcPts val="0"/>
              </a:spcBef>
              <a:spcAft>
                <a:spcPts val="0"/>
              </a:spcAft>
              <a:defRPr/>
            </a:pPr>
            <a:endParaRPr>
              <a:latin typeface="+mn-lt"/>
              <a:cs typeface="+mn-cs"/>
            </a:endParaRPr>
          </a:p>
        </p:txBody>
      </p:sp>
      <p:sp>
        <p:nvSpPr>
          <p:cNvPr id="20" name="bg object 20">
            <a:extLst>
              <a:ext uri="{FF2B5EF4-FFF2-40B4-BE49-F238E27FC236}">
                <a16:creationId xmlns:a16="http://schemas.microsoft.com/office/drawing/2014/main" id="{9094962F-DABC-D915-2637-F36F34A2E17C}"/>
              </a:ext>
            </a:extLst>
          </p:cNvPr>
          <p:cNvSpPr/>
          <p:nvPr/>
        </p:nvSpPr>
        <p:spPr>
          <a:xfrm>
            <a:off x="0" y="6629400"/>
            <a:ext cx="9550400" cy="95250"/>
          </a:xfrm>
          <a:custGeom>
            <a:avLst/>
            <a:gdLst/>
            <a:ahLst/>
            <a:cxnLst/>
            <a:rect l="l" t="t" r="r" b="b"/>
            <a:pathLst>
              <a:path w="7163434" h="95884">
                <a:moveTo>
                  <a:pt x="7163269" y="0"/>
                </a:moveTo>
                <a:lnTo>
                  <a:pt x="0" y="0"/>
                </a:lnTo>
                <a:lnTo>
                  <a:pt x="0" y="95402"/>
                </a:lnTo>
                <a:lnTo>
                  <a:pt x="7163269" y="95402"/>
                </a:lnTo>
                <a:lnTo>
                  <a:pt x="7163269" y="0"/>
                </a:lnTo>
                <a:close/>
              </a:path>
            </a:pathLst>
          </a:custGeom>
          <a:solidFill>
            <a:srgbClr val="E99213"/>
          </a:solidFill>
        </p:spPr>
        <p:txBody>
          <a:bodyPr lIns="0" tIns="0" rIns="0" bIns="0"/>
          <a:lstStyle/>
          <a:p>
            <a:pPr fontAlgn="auto">
              <a:spcBef>
                <a:spcPts val="0"/>
              </a:spcBef>
              <a:spcAft>
                <a:spcPts val="0"/>
              </a:spcAft>
              <a:defRPr/>
            </a:pPr>
            <a:endParaRPr>
              <a:latin typeface="+mn-lt"/>
              <a:cs typeface="+mn-cs"/>
            </a:endParaRPr>
          </a:p>
        </p:txBody>
      </p:sp>
      <p:sp>
        <p:nvSpPr>
          <p:cNvPr id="21" name="bg object 21">
            <a:extLst>
              <a:ext uri="{FF2B5EF4-FFF2-40B4-BE49-F238E27FC236}">
                <a16:creationId xmlns:a16="http://schemas.microsoft.com/office/drawing/2014/main" id="{CF2F4B6B-8A58-82E1-0B99-FEE363802452}"/>
              </a:ext>
            </a:extLst>
          </p:cNvPr>
          <p:cNvSpPr/>
          <p:nvPr/>
        </p:nvSpPr>
        <p:spPr>
          <a:xfrm>
            <a:off x="0" y="6477000"/>
            <a:ext cx="9550400" cy="95250"/>
          </a:xfrm>
          <a:custGeom>
            <a:avLst/>
            <a:gdLst/>
            <a:ahLst/>
            <a:cxnLst/>
            <a:rect l="l" t="t" r="r" b="b"/>
            <a:pathLst>
              <a:path w="7163434" h="95884">
                <a:moveTo>
                  <a:pt x="7163269" y="0"/>
                </a:moveTo>
                <a:lnTo>
                  <a:pt x="0" y="0"/>
                </a:lnTo>
                <a:lnTo>
                  <a:pt x="0" y="95402"/>
                </a:lnTo>
                <a:lnTo>
                  <a:pt x="7163269" y="95402"/>
                </a:lnTo>
                <a:lnTo>
                  <a:pt x="7163269" y="0"/>
                </a:lnTo>
                <a:close/>
              </a:path>
            </a:pathLst>
          </a:custGeom>
          <a:solidFill>
            <a:srgbClr val="1D24AD"/>
          </a:solidFill>
        </p:spPr>
        <p:txBody>
          <a:bodyPr lIns="0" tIns="0" rIns="0" bIns="0"/>
          <a:lstStyle/>
          <a:p>
            <a:pPr fontAlgn="auto">
              <a:spcBef>
                <a:spcPts val="0"/>
              </a:spcBef>
              <a:spcAft>
                <a:spcPts val="0"/>
              </a:spcAft>
              <a:defRPr/>
            </a:pPr>
            <a:endParaRPr>
              <a:latin typeface="+mn-lt"/>
              <a:cs typeface="+mn-cs"/>
            </a:endParaRPr>
          </a:p>
        </p:txBody>
      </p:sp>
      <p:pic>
        <p:nvPicPr>
          <p:cNvPr id="1032" name="bg object 22">
            <a:extLst>
              <a:ext uri="{FF2B5EF4-FFF2-40B4-BE49-F238E27FC236}">
                <a16:creationId xmlns:a16="http://schemas.microsoft.com/office/drawing/2014/main" id="{3CE6D5DB-73C3-DF63-019C-3E7F399E0F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09667" y="6429376"/>
            <a:ext cx="126153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bg object 23">
            <a:extLst>
              <a:ext uri="{FF2B5EF4-FFF2-40B4-BE49-F238E27FC236}">
                <a16:creationId xmlns:a16="http://schemas.microsoft.com/office/drawing/2014/main" id="{848A5740-1B9F-C1C0-77E6-FED4D95862CD}"/>
              </a:ext>
            </a:extLst>
          </p:cNvPr>
          <p:cNvSpPr/>
          <p:nvPr/>
        </p:nvSpPr>
        <p:spPr>
          <a:xfrm>
            <a:off x="10972800" y="6629400"/>
            <a:ext cx="1219200" cy="76200"/>
          </a:xfrm>
          <a:custGeom>
            <a:avLst/>
            <a:gdLst/>
            <a:ahLst/>
            <a:cxnLst/>
            <a:rect l="l" t="t" r="r" b="b"/>
            <a:pathLst>
              <a:path w="915034" h="76834">
                <a:moveTo>
                  <a:pt x="914755" y="0"/>
                </a:moveTo>
                <a:lnTo>
                  <a:pt x="0" y="0"/>
                </a:lnTo>
                <a:lnTo>
                  <a:pt x="0" y="76314"/>
                </a:lnTo>
                <a:lnTo>
                  <a:pt x="914755" y="76314"/>
                </a:lnTo>
                <a:lnTo>
                  <a:pt x="914755" y="0"/>
                </a:lnTo>
                <a:close/>
              </a:path>
            </a:pathLst>
          </a:custGeom>
          <a:solidFill>
            <a:srgbClr val="E99213"/>
          </a:solidFill>
        </p:spPr>
        <p:txBody>
          <a:bodyPr lIns="0" tIns="0" rIns="0" bIns="0"/>
          <a:lstStyle/>
          <a:p>
            <a:pPr fontAlgn="auto">
              <a:spcBef>
                <a:spcPts val="0"/>
              </a:spcBef>
              <a:spcAft>
                <a:spcPts val="0"/>
              </a:spcAft>
              <a:defRPr/>
            </a:pPr>
            <a:endParaRPr>
              <a:latin typeface="+mn-lt"/>
              <a:cs typeface="+mn-cs"/>
            </a:endParaRPr>
          </a:p>
        </p:txBody>
      </p:sp>
      <p:sp>
        <p:nvSpPr>
          <p:cNvPr id="24" name="bg object 24">
            <a:extLst>
              <a:ext uri="{FF2B5EF4-FFF2-40B4-BE49-F238E27FC236}">
                <a16:creationId xmlns:a16="http://schemas.microsoft.com/office/drawing/2014/main" id="{E3DD8EA3-1DC6-9962-6BEE-4595BC0E0F57}"/>
              </a:ext>
            </a:extLst>
          </p:cNvPr>
          <p:cNvSpPr/>
          <p:nvPr/>
        </p:nvSpPr>
        <p:spPr>
          <a:xfrm>
            <a:off x="10972800" y="6477000"/>
            <a:ext cx="1219200" cy="76200"/>
          </a:xfrm>
          <a:custGeom>
            <a:avLst/>
            <a:gdLst/>
            <a:ahLst/>
            <a:cxnLst/>
            <a:rect l="l" t="t" r="r" b="b"/>
            <a:pathLst>
              <a:path w="915034" h="76834">
                <a:moveTo>
                  <a:pt x="914755" y="0"/>
                </a:moveTo>
                <a:lnTo>
                  <a:pt x="0" y="0"/>
                </a:lnTo>
                <a:lnTo>
                  <a:pt x="0" y="76326"/>
                </a:lnTo>
                <a:lnTo>
                  <a:pt x="914755" y="76326"/>
                </a:lnTo>
                <a:lnTo>
                  <a:pt x="914755" y="0"/>
                </a:lnTo>
                <a:close/>
              </a:path>
            </a:pathLst>
          </a:custGeom>
          <a:solidFill>
            <a:srgbClr val="1D24AD"/>
          </a:solidFill>
        </p:spPr>
        <p:txBody>
          <a:bodyPr lIns="0" tIns="0" rIns="0" bIns="0"/>
          <a:lstStyle/>
          <a:p>
            <a:pPr fontAlgn="auto">
              <a:spcBef>
                <a:spcPts val="0"/>
              </a:spcBef>
              <a:spcAft>
                <a:spcPts val="0"/>
              </a:spcAft>
              <a:defRPr/>
            </a:pPr>
            <a:endParaRPr>
              <a:latin typeface="+mn-lt"/>
              <a:cs typeface="+mn-cs"/>
            </a:endParaRPr>
          </a:p>
        </p:txBody>
      </p:sp>
      <p:sp>
        <p:nvSpPr>
          <p:cNvPr id="1035" name="Holder 2">
            <a:extLst>
              <a:ext uri="{FF2B5EF4-FFF2-40B4-BE49-F238E27FC236}">
                <a16:creationId xmlns:a16="http://schemas.microsoft.com/office/drawing/2014/main" id="{420C9670-CC7B-D7DB-446A-AF84E6D0F6FB}"/>
              </a:ext>
            </a:extLst>
          </p:cNvPr>
          <p:cNvSpPr>
            <a:spLocks noGrp="1"/>
          </p:cNvSpPr>
          <p:nvPr>
            <p:ph type="title"/>
          </p:nvPr>
        </p:nvSpPr>
        <p:spPr bwMode="auto">
          <a:xfrm>
            <a:off x="867834" y="1895475"/>
            <a:ext cx="24003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36" name="Holder 3">
            <a:extLst>
              <a:ext uri="{FF2B5EF4-FFF2-40B4-BE49-F238E27FC236}">
                <a16:creationId xmlns:a16="http://schemas.microsoft.com/office/drawing/2014/main" id="{E95291A0-D799-B0D9-07F4-C0D7872A43C8}"/>
              </a:ext>
            </a:extLst>
          </p:cNvPr>
          <p:cNvSpPr>
            <a:spLocks noGrp="1"/>
          </p:cNvSpPr>
          <p:nvPr>
            <p:ph type="body" idx="1"/>
          </p:nvPr>
        </p:nvSpPr>
        <p:spPr bwMode="auto">
          <a:xfrm>
            <a:off x="867833" y="2441575"/>
            <a:ext cx="1090718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a:extLst>
              <a:ext uri="{FF2B5EF4-FFF2-40B4-BE49-F238E27FC236}">
                <a16:creationId xmlns:a16="http://schemas.microsoft.com/office/drawing/2014/main" id="{915BFAD6-A5CE-8E3A-72F0-6E38F9A91709}"/>
              </a:ext>
            </a:extLst>
          </p:cNvPr>
          <p:cNvSpPr>
            <a:spLocks noGrp="1"/>
          </p:cNvSpPr>
          <p:nvPr>
            <p:ph type="ftr" sz="quarter" idx="5"/>
          </p:nvPr>
        </p:nvSpPr>
        <p:spPr>
          <a:xfrm>
            <a:off x="4144434" y="6378575"/>
            <a:ext cx="3903133" cy="276999"/>
          </a:xfrm>
          <a:prstGeom prst="rect">
            <a:avLst/>
          </a:prstGeom>
        </p:spPr>
        <p:txBody>
          <a:bodyPr wrap="square" lIns="0" tIns="0" rIns="0" bIns="0">
            <a:spAutoFit/>
          </a:bodyPr>
          <a:lstStyle>
            <a:lvl1pPr algn="ctr" fontAlgn="auto">
              <a:spcBef>
                <a:spcPts val="0"/>
              </a:spcBef>
              <a:spcAft>
                <a:spcPts val="0"/>
              </a:spcAft>
              <a:defRPr>
                <a:solidFill>
                  <a:schemeClr val="tx1">
                    <a:tint val="75000"/>
                  </a:schemeClr>
                </a:solidFill>
                <a:latin typeface="+mn-lt"/>
                <a:cs typeface="+mn-cs"/>
              </a:defRPr>
            </a:lvl1pPr>
          </a:lstStyle>
          <a:p>
            <a:pPr>
              <a:defRPr/>
            </a:pPr>
            <a:endParaRPr/>
          </a:p>
        </p:txBody>
      </p:sp>
      <p:sp>
        <p:nvSpPr>
          <p:cNvPr id="5" name="Holder 5">
            <a:extLst>
              <a:ext uri="{FF2B5EF4-FFF2-40B4-BE49-F238E27FC236}">
                <a16:creationId xmlns:a16="http://schemas.microsoft.com/office/drawing/2014/main" id="{D7953308-E4A9-1702-3A02-C8FDD4EEC7CC}"/>
              </a:ext>
            </a:extLst>
          </p:cNvPr>
          <p:cNvSpPr>
            <a:spLocks noGrp="1"/>
          </p:cNvSpPr>
          <p:nvPr>
            <p:ph type="dt" sz="half" idx="6"/>
          </p:nvPr>
        </p:nvSpPr>
        <p:spPr>
          <a:xfrm>
            <a:off x="609600" y="6378575"/>
            <a:ext cx="2804584" cy="276999"/>
          </a:xfrm>
          <a:prstGeom prst="rect">
            <a:avLst/>
          </a:prstGeom>
        </p:spPr>
        <p:txBody>
          <a:bodyPr wrap="square" lIns="0" tIns="0" rIns="0" bIns="0">
            <a:spAutoFit/>
          </a:bodyPr>
          <a:lstStyle>
            <a:lvl1pPr algn="l" fontAlgn="auto">
              <a:spcBef>
                <a:spcPts val="0"/>
              </a:spcBef>
              <a:spcAft>
                <a:spcPts val="0"/>
              </a:spcAft>
              <a:defRPr>
                <a:solidFill>
                  <a:schemeClr val="tx1">
                    <a:tint val="75000"/>
                  </a:schemeClr>
                </a:solidFill>
                <a:latin typeface="+mn-lt"/>
                <a:cs typeface="+mn-cs"/>
              </a:defRPr>
            </a:lvl1pPr>
          </a:lstStyle>
          <a:p>
            <a:pPr>
              <a:defRPr/>
            </a:pPr>
            <a:fld id="{FD10B6E0-D777-4B68-A97C-28150D99468E}" type="datetimeFigureOut">
              <a:rPr lang="en-US"/>
              <a:pPr>
                <a:defRPr/>
              </a:pPr>
              <a:t>11/4/2025</a:t>
            </a:fld>
            <a:endParaRPr lang="en-US"/>
          </a:p>
        </p:txBody>
      </p:sp>
      <p:sp>
        <p:nvSpPr>
          <p:cNvPr id="6" name="Holder 6">
            <a:extLst>
              <a:ext uri="{FF2B5EF4-FFF2-40B4-BE49-F238E27FC236}">
                <a16:creationId xmlns:a16="http://schemas.microsoft.com/office/drawing/2014/main" id="{963A8A04-B85E-661F-2CCF-06E3F37BDD09}"/>
              </a:ext>
            </a:extLst>
          </p:cNvPr>
          <p:cNvSpPr>
            <a:spLocks noGrp="1"/>
          </p:cNvSpPr>
          <p:nvPr>
            <p:ph type="sldNum" sz="quarter" idx="7"/>
          </p:nvPr>
        </p:nvSpPr>
        <p:spPr>
          <a:xfrm>
            <a:off x="8777818" y="6378575"/>
            <a:ext cx="2804583" cy="276999"/>
          </a:xfrm>
          <a:prstGeom prst="rect">
            <a:avLst/>
          </a:prstGeom>
        </p:spPr>
        <p:txBody>
          <a:bodyPr vert="horz" wrap="square" lIns="0" tIns="0" rIns="0" bIns="0" numCol="1" anchor="t" anchorCtr="0" compatLnSpc="1">
            <a:prstTxWarp prst="textNoShape">
              <a:avLst/>
            </a:prstTxWarp>
            <a:spAutoFit/>
          </a:bodyPr>
          <a:lstStyle>
            <a:lvl1pPr algn="r">
              <a:defRPr>
                <a:solidFill>
                  <a:srgbClr val="898989"/>
                </a:solidFill>
                <a:latin typeface="Calibri" panose="020F0502020204030204" pitchFamily="34" charset="0"/>
              </a:defRPr>
            </a:lvl1pPr>
          </a:lstStyle>
          <a:p>
            <a:fld id="{80BB3A25-EFC1-4CD8-A5A0-3E7A02FA28D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alibri" panose="020F0502020204030204" pitchFamily="34" charset="0"/>
        </a:defRPr>
      </a:lvl2pPr>
      <a:lvl3pPr algn="ctr" rtl="0" eaLnBrk="0" fontAlgn="base" hangingPunct="0">
        <a:spcBef>
          <a:spcPct val="0"/>
        </a:spcBef>
        <a:spcAft>
          <a:spcPct val="0"/>
        </a:spcAft>
        <a:defRPr sz="4400">
          <a:solidFill>
            <a:schemeClr val="tx2"/>
          </a:solidFill>
          <a:latin typeface="Calibri" panose="020F0502020204030204" pitchFamily="34" charset="0"/>
        </a:defRPr>
      </a:lvl3pPr>
      <a:lvl4pPr algn="ctr" rtl="0" eaLnBrk="0" fontAlgn="base" hangingPunct="0">
        <a:spcBef>
          <a:spcPct val="0"/>
        </a:spcBef>
        <a:spcAft>
          <a:spcPct val="0"/>
        </a:spcAft>
        <a:defRPr sz="4400">
          <a:solidFill>
            <a:schemeClr val="tx2"/>
          </a:solidFill>
          <a:latin typeface="Calibri" panose="020F0502020204030204" pitchFamily="34" charset="0"/>
        </a:defRPr>
      </a:lvl4pPr>
      <a:lvl5pPr algn="ctr" rtl="0" eaLnBrk="0" fontAlgn="base" hangingPunct="0">
        <a:spcBef>
          <a:spcPct val="0"/>
        </a:spcBef>
        <a:spcAft>
          <a:spcPct val="0"/>
        </a:spcAft>
        <a:defRPr sz="4400">
          <a:solidFill>
            <a:schemeClr val="tx2"/>
          </a:solidFill>
          <a:latin typeface="Calibri" panose="020F0502020204030204" pitchFamily="34" charset="0"/>
        </a:defRPr>
      </a:lvl5pPr>
      <a:lvl6pPr marL="457200" algn="ctr" rtl="0" eaLnBrk="0" fontAlgn="base" hangingPunct="0">
        <a:spcBef>
          <a:spcPct val="0"/>
        </a:spcBef>
        <a:spcAft>
          <a:spcPct val="0"/>
        </a:spcAft>
        <a:defRPr sz="4400">
          <a:solidFill>
            <a:schemeClr val="tx2"/>
          </a:solidFill>
          <a:latin typeface="Calibri" panose="020F0502020204030204" pitchFamily="34" charset="0"/>
        </a:defRPr>
      </a:lvl6pPr>
      <a:lvl7pPr marL="914400" algn="ctr" rtl="0" eaLnBrk="0" fontAlgn="base" hangingPunct="0">
        <a:spcBef>
          <a:spcPct val="0"/>
        </a:spcBef>
        <a:spcAft>
          <a:spcPct val="0"/>
        </a:spcAft>
        <a:defRPr sz="4400">
          <a:solidFill>
            <a:schemeClr val="tx2"/>
          </a:solidFill>
          <a:latin typeface="Calibri" panose="020F0502020204030204" pitchFamily="34" charset="0"/>
        </a:defRPr>
      </a:lvl7pPr>
      <a:lvl8pPr marL="1371600" algn="ctr" rtl="0" eaLnBrk="0" fontAlgn="base" hangingPunct="0">
        <a:spcBef>
          <a:spcPct val="0"/>
        </a:spcBef>
        <a:spcAft>
          <a:spcPct val="0"/>
        </a:spcAft>
        <a:defRPr sz="4400">
          <a:solidFill>
            <a:schemeClr val="tx2"/>
          </a:solidFill>
          <a:latin typeface="Calibri" panose="020F0502020204030204" pitchFamily="34" charset="0"/>
        </a:defRPr>
      </a:lvl8pPr>
      <a:lvl9pPr marL="1828800" algn="ctr" rtl="0" eaLnBrk="0" fontAlgn="base" hangingPunct="0">
        <a:spcBef>
          <a:spcPct val="0"/>
        </a:spcBef>
        <a:spcAft>
          <a:spcPct val="0"/>
        </a:spcAft>
        <a:defRPr sz="4400">
          <a:solidFill>
            <a:schemeClr val="tx2"/>
          </a:solidFill>
          <a:latin typeface="Calibri" panose="020F0502020204030204" pitchFamily="34" charset="0"/>
        </a:defRPr>
      </a:lvl9pPr>
    </p:titleStyle>
    <p:bodyStyle>
      <a:lvl1pPr algn="l" rtl="0" eaLnBrk="0" fontAlgn="base" hangingPunct="0">
        <a:spcBef>
          <a:spcPct val="20000"/>
        </a:spcBef>
        <a:spcAft>
          <a:spcPct val="0"/>
        </a:spcAft>
        <a:buChar char="•"/>
        <a:defRPr sz="3200">
          <a:solidFill>
            <a:schemeClr val="tx1"/>
          </a:solidFill>
          <a:latin typeface="+mn-lt"/>
          <a:ea typeface="+mn-ea"/>
          <a:cs typeface="+mn-cs"/>
        </a:defRPr>
      </a:lvl1pPr>
      <a:lvl2pPr marL="457200" algn="l" rtl="0" eaLnBrk="0" fontAlgn="base" hangingPunct="0">
        <a:spcBef>
          <a:spcPct val="20000"/>
        </a:spcBef>
        <a:spcAft>
          <a:spcPct val="0"/>
        </a:spcAft>
        <a:buChar char="–"/>
        <a:defRPr sz="2800">
          <a:solidFill>
            <a:schemeClr val="tx1"/>
          </a:solidFill>
          <a:latin typeface="+mn-lt"/>
          <a:ea typeface="+mn-ea"/>
          <a:cs typeface="+mn-cs"/>
        </a:defRPr>
      </a:lvl2pPr>
      <a:lvl3pPr marL="914400" algn="l" rtl="0" eaLnBrk="0" fontAlgn="base" hangingPunct="0">
        <a:spcBef>
          <a:spcPct val="20000"/>
        </a:spcBef>
        <a:spcAft>
          <a:spcPct val="0"/>
        </a:spcAft>
        <a:buChar char="•"/>
        <a:defRPr sz="2400">
          <a:solidFill>
            <a:schemeClr val="tx1"/>
          </a:solidFill>
          <a:latin typeface="+mn-lt"/>
          <a:ea typeface="+mn-ea"/>
          <a:cs typeface="+mn-cs"/>
        </a:defRPr>
      </a:lvl3pPr>
      <a:lvl4pPr marL="1371600" algn="l" rtl="0" eaLnBrk="0" fontAlgn="base" hangingPunct="0">
        <a:spcBef>
          <a:spcPct val="20000"/>
        </a:spcBef>
        <a:spcAft>
          <a:spcPct val="0"/>
        </a:spcAft>
        <a:buChar char="–"/>
        <a:defRPr sz="2000">
          <a:solidFill>
            <a:schemeClr val="tx1"/>
          </a:solidFill>
          <a:latin typeface="+mn-lt"/>
          <a:ea typeface="+mn-ea"/>
          <a:cs typeface="+mn-cs"/>
        </a:defRPr>
      </a:lvl4pPr>
      <a:lvl5pPr marL="1828800" algn="l" rtl="0" eaLnBrk="0" fontAlgn="base" hangingPunct="0">
        <a:spcBef>
          <a:spcPct val="20000"/>
        </a:spcBef>
        <a:spcAft>
          <a:spcPct val="0"/>
        </a:spcAft>
        <a:buChar char="»"/>
        <a:defRPr sz="2000">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4BEFD32-44E7-6C1A-29F5-062020CD0139}"/>
              </a:ext>
            </a:extLst>
          </p:cNvPr>
          <p:cNvSpPr txBox="1"/>
          <p:nvPr/>
        </p:nvSpPr>
        <p:spPr>
          <a:xfrm>
            <a:off x="838199" y="2630523"/>
            <a:ext cx="10515599" cy="2926891"/>
          </a:xfrm>
          <a:prstGeom prst="rect">
            <a:avLst/>
          </a:prstGeom>
        </p:spPr>
        <p:txBody>
          <a:bodyPr wrap="square" lIns="0" tIns="79375"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ts val="625"/>
              </a:spcBef>
            </a:pPr>
            <a:r>
              <a:rPr lang="en-US" sz="2800" b="1" dirty="0">
                <a:solidFill>
                  <a:schemeClr val="tx2"/>
                </a:solidFill>
              </a:rPr>
              <a:t>High Efficiency Vienna Rectifier with PFC for Motor Control</a:t>
            </a:r>
            <a:br>
              <a:rPr lang="en-US" sz="2800" b="1" dirty="0">
                <a:solidFill>
                  <a:schemeClr val="tx2"/>
                </a:solidFill>
              </a:rPr>
            </a:br>
            <a:r>
              <a:rPr lang="en-US" sz="2800" b="1" dirty="0">
                <a:solidFill>
                  <a:schemeClr val="tx2"/>
                </a:solidFill>
              </a:rPr>
              <a:t>Technical Area of Project - Power Electronics/Motor Drives</a:t>
            </a:r>
            <a:br>
              <a:rPr lang="en-US" sz="2800" b="1" dirty="0">
                <a:solidFill>
                  <a:schemeClr val="tx2"/>
                </a:solidFill>
              </a:rPr>
            </a:br>
            <a:r>
              <a:rPr lang="en-US" sz="2800" b="1" dirty="0">
                <a:solidFill>
                  <a:schemeClr val="tx2"/>
                </a:solidFill>
              </a:rPr>
              <a:t>Supervisor – Mr. M. Ranjithkumar</a:t>
            </a:r>
            <a:endParaRPr lang="en-US" altLang="en-US" sz="2800" b="1" dirty="0">
              <a:solidFill>
                <a:schemeClr val="tx2"/>
              </a:solidFill>
              <a:latin typeface="Times New Roman" panose="02020603050405020304" pitchFamily="18" charset="0"/>
              <a:cs typeface="Times New Roman" panose="02020603050405020304" pitchFamily="18" charset="0"/>
            </a:endParaRPr>
          </a:p>
          <a:p>
            <a:pPr algn="ctr">
              <a:lnSpc>
                <a:spcPts val="2950"/>
              </a:lnSpc>
              <a:spcBef>
                <a:spcPts val="175"/>
              </a:spcBef>
            </a:pPr>
            <a:r>
              <a:rPr lang="en-US" altLang="en-US" sz="2000" b="1" u="sng" dirty="0">
                <a:solidFill>
                  <a:schemeClr val="accent6">
                    <a:lumMod val="75000"/>
                  </a:schemeClr>
                </a:solidFill>
                <a:latin typeface="Times New Roman" panose="02020603050405020304" pitchFamily="18" charset="0"/>
                <a:cs typeface="Times New Roman" panose="02020603050405020304" pitchFamily="18" charset="0"/>
              </a:rPr>
              <a:t>Presented by </a:t>
            </a:r>
            <a:r>
              <a:rPr lang="en-US" altLang="en-US" sz="2000" b="1" dirty="0">
                <a:solidFill>
                  <a:schemeClr val="accent6">
                    <a:lumMod val="75000"/>
                  </a:schemeClr>
                </a:solidFill>
                <a:latin typeface="Times New Roman" panose="02020603050405020304" pitchFamily="18" charset="0"/>
                <a:cs typeface="Times New Roman" panose="02020603050405020304" pitchFamily="18" charset="0"/>
              </a:rPr>
              <a:t> </a:t>
            </a:r>
          </a:p>
          <a:p>
            <a:pPr algn="ctr">
              <a:lnSpc>
                <a:spcPts val="2950"/>
              </a:lnSpc>
              <a:spcBef>
                <a:spcPts val="175"/>
              </a:spcBef>
            </a:pPr>
            <a:r>
              <a:rPr lang="en-US" altLang="en-US" sz="2000" b="1" dirty="0">
                <a:solidFill>
                  <a:schemeClr val="tx2"/>
                </a:solidFill>
                <a:latin typeface="Times New Roman" panose="02020603050405020304" pitchFamily="18" charset="0"/>
                <a:cs typeface="Times New Roman" panose="02020603050405020304" pitchFamily="18" charset="0"/>
              </a:rPr>
              <a:t>Saghana S – 2127220601057</a:t>
            </a:r>
            <a:br>
              <a:rPr lang="en-US" altLang="en-US" sz="2000" b="1" dirty="0">
                <a:solidFill>
                  <a:schemeClr val="tx2"/>
                </a:solidFill>
                <a:latin typeface="Times New Roman" panose="02020603050405020304" pitchFamily="18" charset="0"/>
                <a:cs typeface="Times New Roman" panose="02020603050405020304" pitchFamily="18" charset="0"/>
              </a:rPr>
            </a:br>
            <a:r>
              <a:rPr lang="en-US" altLang="en-US" sz="2000" b="1" dirty="0">
                <a:solidFill>
                  <a:schemeClr val="tx2"/>
                </a:solidFill>
                <a:latin typeface="Times New Roman" panose="02020603050405020304" pitchFamily="18" charset="0"/>
                <a:cs typeface="Times New Roman" panose="02020603050405020304" pitchFamily="18" charset="0"/>
              </a:rPr>
              <a:t>Sri Nithi S – 2127220601074</a:t>
            </a:r>
            <a:br>
              <a:rPr lang="en-US" altLang="en-US" sz="2000" b="1" dirty="0">
                <a:solidFill>
                  <a:schemeClr val="tx2"/>
                </a:solidFill>
                <a:latin typeface="Times New Roman" panose="02020603050405020304" pitchFamily="18" charset="0"/>
                <a:cs typeface="Times New Roman" panose="02020603050405020304" pitchFamily="18" charset="0"/>
              </a:rPr>
            </a:br>
            <a:r>
              <a:rPr lang="en-US" altLang="en-US" sz="2000" b="1" dirty="0">
                <a:solidFill>
                  <a:schemeClr val="tx2"/>
                </a:solidFill>
                <a:latin typeface="Times New Roman" panose="02020603050405020304" pitchFamily="18" charset="0"/>
                <a:cs typeface="Times New Roman" panose="02020603050405020304" pitchFamily="18" charset="0"/>
              </a:rPr>
              <a:t>Tanishka S - 2127220601081</a:t>
            </a:r>
          </a:p>
        </p:txBody>
      </p:sp>
      <p:grpSp>
        <p:nvGrpSpPr>
          <p:cNvPr id="3075" name="object 3">
            <a:extLst>
              <a:ext uri="{FF2B5EF4-FFF2-40B4-BE49-F238E27FC236}">
                <a16:creationId xmlns:a16="http://schemas.microsoft.com/office/drawing/2014/main" id="{73111B25-5F00-3A86-DAC1-571AB35076EE}"/>
              </a:ext>
            </a:extLst>
          </p:cNvPr>
          <p:cNvGrpSpPr>
            <a:grpSpLocks/>
          </p:cNvGrpSpPr>
          <p:nvPr/>
        </p:nvGrpSpPr>
        <p:grpSpPr bwMode="auto">
          <a:xfrm>
            <a:off x="12014200" y="0"/>
            <a:ext cx="177800" cy="1092200"/>
            <a:chOff x="8978579" y="0"/>
            <a:chExt cx="178435" cy="1092835"/>
          </a:xfrm>
        </p:grpSpPr>
        <p:sp>
          <p:nvSpPr>
            <p:cNvPr id="3080" name="object 4">
              <a:extLst>
                <a:ext uri="{FF2B5EF4-FFF2-40B4-BE49-F238E27FC236}">
                  <a16:creationId xmlns:a16="http://schemas.microsoft.com/office/drawing/2014/main" id="{41FB9C39-86AF-F289-84F9-71230AD9E253}"/>
                </a:ext>
              </a:extLst>
            </p:cNvPr>
            <p:cNvSpPr>
              <a:spLocks noChangeArrowheads="1"/>
            </p:cNvSpPr>
            <p:nvPr/>
          </p:nvSpPr>
          <p:spPr bwMode="auto">
            <a:xfrm>
              <a:off x="8991358" y="0"/>
              <a:ext cx="153035" cy="1067435"/>
            </a:xfrm>
            <a:custGeom>
              <a:avLst/>
              <a:gdLst>
                <a:gd name="T0" fmla="*/ 0 w 153034"/>
                <a:gd name="T1" fmla="*/ 0 h 1067435"/>
                <a:gd name="T2" fmla="*/ 153034 w 153034"/>
                <a:gd name="T3" fmla="*/ 1067435 h 1067435"/>
              </a:gdLst>
              <a:ahLst/>
              <a:cxnLst/>
              <a:rect l="T0" t="T1" r="T2" b="T3"/>
              <a:pathLst>
                <a:path w="153034" h="1067435">
                  <a:moveTo>
                    <a:pt x="152641" y="0"/>
                  </a:moveTo>
                  <a:lnTo>
                    <a:pt x="0" y="0"/>
                  </a:lnTo>
                  <a:lnTo>
                    <a:pt x="0" y="1067041"/>
                  </a:lnTo>
                  <a:lnTo>
                    <a:pt x="152641" y="1067041"/>
                  </a:lnTo>
                  <a:lnTo>
                    <a:pt x="152641" y="0"/>
                  </a:lnTo>
                  <a:close/>
                </a:path>
              </a:pathLst>
            </a:custGeom>
            <a:solidFill>
              <a:srgbClr val="E9921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dirty="0"/>
            </a:p>
          </p:txBody>
        </p:sp>
        <p:sp>
          <p:nvSpPr>
            <p:cNvPr id="3081" name="object 5">
              <a:extLst>
                <a:ext uri="{FF2B5EF4-FFF2-40B4-BE49-F238E27FC236}">
                  <a16:creationId xmlns:a16="http://schemas.microsoft.com/office/drawing/2014/main" id="{1A4CDAFF-7A76-8965-9254-91BAB4367F37}"/>
                </a:ext>
              </a:extLst>
            </p:cNvPr>
            <p:cNvSpPr>
              <a:spLocks noChangeArrowheads="1"/>
            </p:cNvSpPr>
            <p:nvPr/>
          </p:nvSpPr>
          <p:spPr bwMode="auto">
            <a:xfrm>
              <a:off x="8991358" y="0"/>
              <a:ext cx="153035" cy="1067435"/>
            </a:xfrm>
            <a:custGeom>
              <a:avLst/>
              <a:gdLst>
                <a:gd name="T0" fmla="*/ 0 w 153034"/>
                <a:gd name="T1" fmla="*/ 0 h 1067435"/>
                <a:gd name="T2" fmla="*/ 153034 w 153034"/>
                <a:gd name="T3" fmla="*/ 1067435 h 1067435"/>
              </a:gdLst>
              <a:ahLst/>
              <a:cxnLst/>
              <a:rect l="T0" t="T1" r="T2" b="T3"/>
              <a:pathLst>
                <a:path w="153034" h="1067435">
                  <a:moveTo>
                    <a:pt x="0" y="0"/>
                  </a:moveTo>
                  <a:lnTo>
                    <a:pt x="152641" y="0"/>
                  </a:lnTo>
                  <a:lnTo>
                    <a:pt x="152641" y="1067041"/>
                  </a:lnTo>
                  <a:lnTo>
                    <a:pt x="0" y="1067041"/>
                  </a:lnTo>
                  <a:lnTo>
                    <a:pt x="0" y="0"/>
                  </a:lnTo>
                  <a:close/>
                </a:path>
              </a:pathLst>
            </a:custGeom>
            <a:noFill/>
            <a:ln w="25559">
              <a:solidFill>
                <a:srgbClr val="E9921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pic>
        <p:nvPicPr>
          <p:cNvPr id="3076" name="object 6">
            <a:extLst>
              <a:ext uri="{FF2B5EF4-FFF2-40B4-BE49-F238E27FC236}">
                <a16:creationId xmlns:a16="http://schemas.microsoft.com/office/drawing/2014/main" id="{B73A93D9-0282-0705-273D-E518B27650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762" y="425342"/>
            <a:ext cx="888047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7" name="object 7">
            <a:extLst>
              <a:ext uri="{FF2B5EF4-FFF2-40B4-BE49-F238E27FC236}">
                <a16:creationId xmlns:a16="http://schemas.microsoft.com/office/drawing/2014/main" id="{DBA817A1-F122-3E0E-6B20-6D41DCF7A229}"/>
              </a:ext>
            </a:extLst>
          </p:cNvPr>
          <p:cNvGrpSpPr>
            <a:grpSpLocks/>
          </p:cNvGrpSpPr>
          <p:nvPr/>
        </p:nvGrpSpPr>
        <p:grpSpPr bwMode="auto">
          <a:xfrm>
            <a:off x="0" y="6480457"/>
            <a:ext cx="12192000" cy="377572"/>
            <a:chOff x="0" y="6500655"/>
            <a:chExt cx="9144635" cy="128847"/>
          </a:xfrm>
        </p:grpSpPr>
        <p:sp>
          <p:nvSpPr>
            <p:cNvPr id="3078" name="object 8">
              <a:extLst>
                <a:ext uri="{FF2B5EF4-FFF2-40B4-BE49-F238E27FC236}">
                  <a16:creationId xmlns:a16="http://schemas.microsoft.com/office/drawing/2014/main" id="{776A4F14-A11A-72D5-EB74-8DFC4816A954}"/>
                </a:ext>
              </a:extLst>
            </p:cNvPr>
            <p:cNvSpPr>
              <a:spLocks noChangeArrowheads="1"/>
            </p:cNvSpPr>
            <p:nvPr/>
          </p:nvSpPr>
          <p:spPr bwMode="auto">
            <a:xfrm>
              <a:off x="0" y="6577089"/>
              <a:ext cx="9144635" cy="52413"/>
            </a:xfrm>
            <a:custGeom>
              <a:avLst/>
              <a:gdLst>
                <a:gd name="T0" fmla="*/ 0 w 9144635"/>
                <a:gd name="T1" fmla="*/ 0 h 76834"/>
                <a:gd name="T2" fmla="*/ 9144635 w 9144635"/>
                <a:gd name="T3" fmla="*/ 76834 h 76834"/>
              </a:gdLst>
              <a:ahLst/>
              <a:cxnLst/>
              <a:rect l="T0" t="T1" r="T2" b="T3"/>
              <a:pathLst>
                <a:path w="9144635" h="76834">
                  <a:moveTo>
                    <a:pt x="9144355" y="0"/>
                  </a:moveTo>
                  <a:lnTo>
                    <a:pt x="0" y="0"/>
                  </a:lnTo>
                  <a:lnTo>
                    <a:pt x="0" y="76314"/>
                  </a:lnTo>
                  <a:lnTo>
                    <a:pt x="9144355" y="76314"/>
                  </a:lnTo>
                  <a:lnTo>
                    <a:pt x="9144355" y="0"/>
                  </a:lnTo>
                  <a:close/>
                </a:path>
              </a:pathLst>
            </a:custGeom>
            <a:solidFill>
              <a:srgbClr val="E9921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079" name="object 9">
              <a:extLst>
                <a:ext uri="{FF2B5EF4-FFF2-40B4-BE49-F238E27FC236}">
                  <a16:creationId xmlns:a16="http://schemas.microsoft.com/office/drawing/2014/main" id="{44FF2055-7498-B5CD-8DFB-17952BD29B13}"/>
                </a:ext>
              </a:extLst>
            </p:cNvPr>
            <p:cNvSpPr>
              <a:spLocks noChangeArrowheads="1"/>
            </p:cNvSpPr>
            <p:nvPr/>
          </p:nvSpPr>
          <p:spPr bwMode="auto">
            <a:xfrm>
              <a:off x="0" y="6500655"/>
              <a:ext cx="9144635" cy="76835"/>
            </a:xfrm>
            <a:custGeom>
              <a:avLst/>
              <a:gdLst>
                <a:gd name="T0" fmla="*/ 0 w 9144635"/>
                <a:gd name="T1" fmla="*/ 0 h 76834"/>
                <a:gd name="T2" fmla="*/ 9144635 w 9144635"/>
                <a:gd name="T3" fmla="*/ 76834 h 76834"/>
              </a:gdLst>
              <a:ahLst/>
              <a:cxnLst/>
              <a:rect l="T0" t="T1" r="T2" b="T3"/>
              <a:pathLst>
                <a:path w="9144635" h="76834">
                  <a:moveTo>
                    <a:pt x="9144355" y="0"/>
                  </a:moveTo>
                  <a:lnTo>
                    <a:pt x="0" y="0"/>
                  </a:lnTo>
                  <a:lnTo>
                    <a:pt x="0" y="76326"/>
                  </a:lnTo>
                  <a:lnTo>
                    <a:pt x="9144355" y="76326"/>
                  </a:lnTo>
                  <a:lnTo>
                    <a:pt x="9144355" y="0"/>
                  </a:lnTo>
                  <a:close/>
                </a:path>
              </a:pathLst>
            </a:custGeom>
            <a:solidFill>
              <a:srgbClr val="1D24A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dirty="0"/>
            </a:p>
          </p:txBody>
        </p:sp>
      </p:grpSp>
      <p:pic>
        <p:nvPicPr>
          <p:cNvPr id="3" name="Picture 2" descr="Sri Venkateswara College of Engineering">
            <a:extLst>
              <a:ext uri="{FF2B5EF4-FFF2-40B4-BE49-F238E27FC236}">
                <a16:creationId xmlns:a16="http://schemas.microsoft.com/office/drawing/2014/main" id="{D32113EE-E899-BF66-6480-314655BA331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363200" y="5180990"/>
            <a:ext cx="1524000" cy="1371033"/>
          </a:xfrm>
          <a:prstGeom prst="flowChartConnector">
            <a:avLst/>
          </a:prstGeom>
          <a:noFill/>
          <a:ln>
            <a:noFill/>
          </a:ln>
        </p:spPr>
      </p:pic>
      <p:sp>
        <p:nvSpPr>
          <p:cNvPr id="4" name="TextBox 3">
            <a:extLst>
              <a:ext uri="{FF2B5EF4-FFF2-40B4-BE49-F238E27FC236}">
                <a16:creationId xmlns:a16="http://schemas.microsoft.com/office/drawing/2014/main" id="{2FD20FA6-D40F-BC37-D3BE-DAEC0AC29E37}"/>
              </a:ext>
            </a:extLst>
          </p:cNvPr>
          <p:cNvSpPr txBox="1"/>
          <p:nvPr/>
        </p:nvSpPr>
        <p:spPr>
          <a:xfrm>
            <a:off x="5962647" y="5947824"/>
            <a:ext cx="266702" cy="369332"/>
          </a:xfrm>
          <a:prstGeom prst="rect">
            <a:avLst/>
          </a:prstGeom>
          <a:noFill/>
        </p:spPr>
        <p:txBody>
          <a:bodyPr wrap="square" rtlCol="0">
            <a:spAutoFit/>
          </a:bodyPr>
          <a:lstStyle/>
          <a:p>
            <a:r>
              <a:rPr lang="en-IN"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2297A88-1BDC-47B5-609E-DD57E365C379}"/>
              </a:ext>
            </a:extLst>
          </p:cNvPr>
          <p:cNvSpPr txBox="1">
            <a:spLocks noGrp="1"/>
          </p:cNvSpPr>
          <p:nvPr>
            <p:ph type="title"/>
          </p:nvPr>
        </p:nvSpPr>
        <p:spPr>
          <a:xfrm>
            <a:off x="3047207" y="228600"/>
            <a:ext cx="6097586" cy="566822"/>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sz="3600" spc="-20" dirty="0">
                <a:solidFill>
                  <a:schemeClr val="bg1"/>
                </a:solidFill>
                <a:latin typeface="Times New Roman" panose="02020603050405020304" pitchFamily="18" charset="0"/>
                <a:cs typeface="Times New Roman" panose="02020603050405020304" pitchFamily="18" charset="0"/>
              </a:rPr>
              <a:t>Motivation</a:t>
            </a:r>
            <a:r>
              <a:rPr lang="en-IN" sz="3600" spc="-20" dirty="0">
                <a:solidFill>
                  <a:schemeClr val="bg1"/>
                </a:solidFill>
                <a:latin typeface="Times New Roman" panose="02020603050405020304" pitchFamily="18" charset="0"/>
                <a:cs typeface="Times New Roman" panose="02020603050405020304" pitchFamily="18" charset="0"/>
              </a:rPr>
              <a:t> and Application </a:t>
            </a:r>
            <a:endParaRPr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B939E01-1C74-678A-79BE-36DC0F74E9D9}"/>
              </a:ext>
            </a:extLst>
          </p:cNvPr>
          <p:cNvSpPr txBox="1"/>
          <p:nvPr/>
        </p:nvSpPr>
        <p:spPr>
          <a:xfrm>
            <a:off x="533400" y="1371600"/>
            <a:ext cx="11125200" cy="4493538"/>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Motive of the Project: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Industries demand efficient motor speed control and reliable power quality.</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Traditional rectifier </a:t>
            </a:r>
            <a:r>
              <a:rPr lang="en-US" sz="2000" dirty="0">
                <a:latin typeface="Times New Roman" panose="02020603050405020304" pitchFamily="18" charset="0"/>
                <a:cs typeface="Times New Roman" panose="02020603050405020304" pitchFamily="18" charset="0"/>
              </a:rPr>
              <a:t>suffer from poor power factor, harmonic distortion, and switching losses. </a:t>
            </a:r>
            <a:br>
              <a:rPr lang="en-US"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Integrating a Vienna rectifier </a:t>
            </a:r>
            <a:r>
              <a:rPr lang="en-US" sz="2000" dirty="0">
                <a:latin typeface="Times New Roman" panose="02020603050405020304" pitchFamily="18" charset="0"/>
                <a:cs typeface="Times New Roman" panose="02020603050405020304" pitchFamily="18" charset="0"/>
              </a:rPr>
              <a:t>addresses these challenges, improving energy efficiency,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motor performance, and compliance with IEEE/IEC standards.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Increasing demand for high-power AC-DC conversion: Growth in electric vehicle fast charging requires efficient three phase rectifiers.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Application:</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Electric Vehicle Fast Charging Stations</a:t>
            </a:r>
            <a:r>
              <a:rPr lang="en-US" sz="2000" dirty="0">
                <a:latin typeface="Times New Roman" panose="02020603050405020304" pitchFamily="18" charset="0"/>
                <a:cs typeface="Times New Roman" panose="02020603050405020304" pitchFamily="18" charset="0"/>
              </a:rPr>
              <a:t> – Ensures efficient and reliable high-power AC–DC conversion.</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Smart Grids</a:t>
            </a:r>
            <a:r>
              <a:rPr lang="en-US" sz="2000" dirty="0">
                <a:latin typeface="Times New Roman" panose="02020603050405020304" pitchFamily="18" charset="0"/>
                <a:cs typeface="Times New Roman" panose="02020603050405020304" pitchFamily="18" charset="0"/>
              </a:rPr>
              <a:t> – Helps maintain power quality and efficient load management.</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Industrial Motor Drives</a:t>
            </a:r>
            <a:r>
              <a:rPr lang="en-US" sz="2000" dirty="0">
                <a:latin typeface="Times New Roman" panose="02020603050405020304" pitchFamily="18" charset="0"/>
                <a:cs typeface="Times New Roman" panose="02020603050405020304" pitchFamily="18" charset="0"/>
              </a:rPr>
              <a:t> – High-efficiency rectification for precise and energy-saving motor speed control.</a:t>
            </a:r>
            <a:endParaRPr lang="en-IN"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8E271F1-9E6E-98DA-B42E-A65AB34D2F4A}"/>
              </a:ext>
            </a:extLst>
          </p:cNvPr>
          <p:cNvSpPr txBox="1"/>
          <p:nvPr/>
        </p:nvSpPr>
        <p:spPr>
          <a:xfrm>
            <a:off x="5943600" y="5900698"/>
            <a:ext cx="304800" cy="369332"/>
          </a:xfrm>
          <a:prstGeom prst="rect">
            <a:avLst/>
          </a:prstGeom>
          <a:noFill/>
        </p:spPr>
        <p:txBody>
          <a:bodyPr wrap="square" rtlCol="0">
            <a:spAutoFit/>
          </a:bodyPr>
          <a:lstStyle/>
          <a:p>
            <a:r>
              <a:rPr lang="en-IN"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42BC020-4DE8-C9B7-16CE-0892745AB3BD}"/>
              </a:ext>
            </a:extLst>
          </p:cNvPr>
          <p:cNvSpPr txBox="1">
            <a:spLocks noGrp="1"/>
          </p:cNvSpPr>
          <p:nvPr>
            <p:ph type="title"/>
          </p:nvPr>
        </p:nvSpPr>
        <p:spPr>
          <a:xfrm>
            <a:off x="2743200" y="284163"/>
            <a:ext cx="6477000" cy="566822"/>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sz="3600" spc="-10" dirty="0">
                <a:solidFill>
                  <a:schemeClr val="bg1"/>
                </a:solidFill>
              </a:rPr>
              <a:t>Objectives</a:t>
            </a:r>
            <a:r>
              <a:rPr sz="3600" spc="-25" dirty="0">
                <a:solidFill>
                  <a:schemeClr val="bg1"/>
                </a:solidFill>
              </a:rPr>
              <a:t> </a:t>
            </a:r>
            <a:endParaRPr sz="3600" dirty="0">
              <a:solidFill>
                <a:schemeClr val="bg1"/>
              </a:solidFill>
            </a:endParaRPr>
          </a:p>
        </p:txBody>
      </p:sp>
      <p:pic>
        <p:nvPicPr>
          <p:cNvPr id="6" name="Picture 5" descr="A red and white target with arrows&#10;&#10;AI-generated content may be incorrect.">
            <a:extLst>
              <a:ext uri="{FF2B5EF4-FFF2-40B4-BE49-F238E27FC236}">
                <a16:creationId xmlns:a16="http://schemas.microsoft.com/office/drawing/2014/main" id="{BEEF4EB2-9CCE-15F8-F3AA-A6CC52E9551F}"/>
              </a:ext>
            </a:extLst>
          </p:cNvPr>
          <p:cNvPicPr>
            <a:picLocks noChangeAspect="1"/>
          </p:cNvPicPr>
          <p:nvPr/>
        </p:nvPicPr>
        <p:blipFill>
          <a:blip r:embed="rId3">
            <a:extLst>
              <a:ext uri="{28A0092B-C50C-407E-A947-70E740481C1C}">
                <a14:useLocalDpi xmlns:a14="http://schemas.microsoft.com/office/drawing/2010/main" val="0"/>
              </a:ext>
            </a:extLst>
          </a:blip>
          <a:srcRect l="20833" r="18055" b="11930"/>
          <a:stretch>
            <a:fillRect/>
          </a:stretch>
        </p:blipFill>
        <p:spPr>
          <a:xfrm>
            <a:off x="4502499" y="2079030"/>
            <a:ext cx="3352800" cy="3276600"/>
          </a:xfrm>
          <a:prstGeom prst="rect">
            <a:avLst/>
          </a:prstGeom>
        </p:spPr>
      </p:pic>
      <p:sp>
        <p:nvSpPr>
          <p:cNvPr id="8" name="TextBox 7">
            <a:extLst>
              <a:ext uri="{FF2B5EF4-FFF2-40B4-BE49-F238E27FC236}">
                <a16:creationId xmlns:a16="http://schemas.microsoft.com/office/drawing/2014/main" id="{C18091E2-A469-3D6D-7FAE-3402FB056919}"/>
              </a:ext>
            </a:extLst>
          </p:cNvPr>
          <p:cNvSpPr txBox="1"/>
          <p:nvPr/>
        </p:nvSpPr>
        <p:spPr>
          <a:xfrm>
            <a:off x="3124200" y="1194708"/>
            <a:ext cx="5943600" cy="923330"/>
          </a:xfrm>
          <a:prstGeom prst="rect">
            <a:avLst/>
          </a:prstGeom>
          <a:noFill/>
        </p:spPr>
        <p:txBody>
          <a:bodyPr wrap="square" rtlCol="0">
            <a:spAutoFit/>
          </a:bodyPr>
          <a:lstStyle/>
          <a:p>
            <a:pPr algn="ctr"/>
            <a:r>
              <a:rPr lang="en-US" dirty="0"/>
              <a:t>To design and simulate a </a:t>
            </a:r>
            <a:r>
              <a:rPr lang="en-US" b="1" dirty="0"/>
              <a:t>three-phase Vienna rectifier</a:t>
            </a:r>
            <a:r>
              <a:rPr lang="en-US" dirty="0"/>
              <a:t> with </a:t>
            </a:r>
            <a:r>
              <a:rPr lang="en-US" b="1" dirty="0"/>
              <a:t>Power Factor Correction (PFC)</a:t>
            </a:r>
            <a:r>
              <a:rPr lang="en-US" dirty="0"/>
              <a:t> using MATLAB/Simulink.</a:t>
            </a:r>
            <a:endParaRPr lang="en-IN" dirty="0"/>
          </a:p>
        </p:txBody>
      </p:sp>
      <p:sp>
        <p:nvSpPr>
          <p:cNvPr id="9" name="TextBox 8">
            <a:extLst>
              <a:ext uri="{FF2B5EF4-FFF2-40B4-BE49-F238E27FC236}">
                <a16:creationId xmlns:a16="http://schemas.microsoft.com/office/drawing/2014/main" id="{4DD8E519-4974-F577-EF3C-0CBD6D61A544}"/>
              </a:ext>
            </a:extLst>
          </p:cNvPr>
          <p:cNvSpPr txBox="1"/>
          <p:nvPr/>
        </p:nvSpPr>
        <p:spPr>
          <a:xfrm>
            <a:off x="7855299" y="2726497"/>
            <a:ext cx="3733800" cy="923330"/>
          </a:xfrm>
          <a:prstGeom prst="rect">
            <a:avLst/>
          </a:prstGeom>
          <a:noFill/>
        </p:spPr>
        <p:txBody>
          <a:bodyPr wrap="square" rtlCol="0">
            <a:spAutoFit/>
          </a:bodyPr>
          <a:lstStyle/>
          <a:p>
            <a:pPr algn="ctr"/>
            <a:r>
              <a:rPr lang="en-US" dirty="0"/>
              <a:t>To achieve </a:t>
            </a:r>
            <a:r>
              <a:rPr lang="en-US" b="1" dirty="0"/>
              <a:t>unity power factor</a:t>
            </a:r>
            <a:r>
              <a:rPr lang="en-US" dirty="0"/>
              <a:t> by reducing input current harmonics (THD &lt; 5%).</a:t>
            </a:r>
            <a:endParaRPr lang="en-IN" dirty="0"/>
          </a:p>
        </p:txBody>
      </p:sp>
      <p:sp>
        <p:nvSpPr>
          <p:cNvPr id="10" name="TextBox 9">
            <a:extLst>
              <a:ext uri="{FF2B5EF4-FFF2-40B4-BE49-F238E27FC236}">
                <a16:creationId xmlns:a16="http://schemas.microsoft.com/office/drawing/2014/main" id="{B365E392-479C-F5FB-61FC-2ACF1B052F8D}"/>
              </a:ext>
            </a:extLst>
          </p:cNvPr>
          <p:cNvSpPr txBox="1"/>
          <p:nvPr/>
        </p:nvSpPr>
        <p:spPr>
          <a:xfrm>
            <a:off x="647700" y="4939057"/>
            <a:ext cx="4191000" cy="369332"/>
          </a:xfrm>
          <a:prstGeom prst="rect">
            <a:avLst/>
          </a:prstGeom>
          <a:noFill/>
        </p:spPr>
        <p:txBody>
          <a:bodyPr wrap="square" rtlCol="0">
            <a:spAutoFit/>
          </a:bodyPr>
          <a:lstStyle/>
          <a:p>
            <a:pPr algn="ctr"/>
            <a:r>
              <a:rPr lang="en-US" dirty="0"/>
              <a:t>To regulate the </a:t>
            </a:r>
            <a:r>
              <a:rPr lang="en-US" b="1" dirty="0"/>
              <a:t>DC-link voltage</a:t>
            </a:r>
            <a:endParaRPr lang="en-IN" dirty="0"/>
          </a:p>
        </p:txBody>
      </p:sp>
      <p:sp>
        <p:nvSpPr>
          <p:cNvPr id="11" name="TextBox 10">
            <a:extLst>
              <a:ext uri="{FF2B5EF4-FFF2-40B4-BE49-F238E27FC236}">
                <a16:creationId xmlns:a16="http://schemas.microsoft.com/office/drawing/2014/main" id="{C739D36C-1CD1-7F07-26E3-D06C788B7EF7}"/>
              </a:ext>
            </a:extLst>
          </p:cNvPr>
          <p:cNvSpPr txBox="1"/>
          <p:nvPr/>
        </p:nvSpPr>
        <p:spPr>
          <a:xfrm>
            <a:off x="7569549" y="4755465"/>
            <a:ext cx="4305300" cy="1200329"/>
          </a:xfrm>
          <a:prstGeom prst="rect">
            <a:avLst/>
          </a:prstGeom>
          <a:noFill/>
        </p:spPr>
        <p:txBody>
          <a:bodyPr wrap="square" rtlCol="0">
            <a:spAutoFit/>
          </a:bodyPr>
          <a:lstStyle/>
          <a:p>
            <a:pPr algn="ctr"/>
            <a:r>
              <a:rPr lang="en-US" dirty="0"/>
              <a:t>To demonstrate the rectifier’s capability for </a:t>
            </a:r>
            <a:r>
              <a:rPr lang="en-US" b="1" dirty="0"/>
              <a:t>high-performance motor control and industrial automation applications</a:t>
            </a:r>
            <a:r>
              <a:rPr lang="en-US" dirty="0"/>
              <a:t>.</a:t>
            </a:r>
            <a:endParaRPr lang="en-IN" dirty="0"/>
          </a:p>
        </p:txBody>
      </p:sp>
      <p:sp>
        <p:nvSpPr>
          <p:cNvPr id="12" name="TextBox 11">
            <a:extLst>
              <a:ext uri="{FF2B5EF4-FFF2-40B4-BE49-F238E27FC236}">
                <a16:creationId xmlns:a16="http://schemas.microsoft.com/office/drawing/2014/main" id="{0419FED2-B8DA-A5B6-3B61-17A2CFA0E665}"/>
              </a:ext>
            </a:extLst>
          </p:cNvPr>
          <p:cNvSpPr txBox="1"/>
          <p:nvPr/>
        </p:nvSpPr>
        <p:spPr>
          <a:xfrm>
            <a:off x="380164" y="2748127"/>
            <a:ext cx="3733800" cy="1200329"/>
          </a:xfrm>
          <a:prstGeom prst="rect">
            <a:avLst/>
          </a:prstGeom>
          <a:noFill/>
        </p:spPr>
        <p:txBody>
          <a:bodyPr wrap="square" rtlCol="0">
            <a:spAutoFit/>
          </a:bodyPr>
          <a:lstStyle/>
          <a:p>
            <a:pPr algn="ctr"/>
            <a:r>
              <a:rPr lang="en-US"/>
              <a:t>To evaluate the </a:t>
            </a:r>
            <a:r>
              <a:rPr lang="en-US" b="1"/>
              <a:t>efficiency, power factor, and harmonic profile</a:t>
            </a:r>
            <a:r>
              <a:rPr lang="en-US"/>
              <a:t> of the Vienna rectifier under different load conditions.</a:t>
            </a:r>
            <a:endParaRPr lang="en-IN" dirty="0"/>
          </a:p>
        </p:txBody>
      </p:sp>
      <p:sp>
        <p:nvSpPr>
          <p:cNvPr id="13" name="Oval 12">
            <a:extLst>
              <a:ext uri="{FF2B5EF4-FFF2-40B4-BE49-F238E27FC236}">
                <a16:creationId xmlns:a16="http://schemas.microsoft.com/office/drawing/2014/main" id="{B81EBBF3-E52F-D313-420E-FD6670C71907}"/>
              </a:ext>
            </a:extLst>
          </p:cNvPr>
          <p:cNvSpPr/>
          <p:nvPr/>
        </p:nvSpPr>
        <p:spPr>
          <a:xfrm>
            <a:off x="2895600" y="1017790"/>
            <a:ext cx="7010400" cy="1224127"/>
          </a:xfrm>
          <a:prstGeom prst="ellipse">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14" name="Rectangle: Top Corners Rounded 13">
            <a:extLst>
              <a:ext uri="{FF2B5EF4-FFF2-40B4-BE49-F238E27FC236}">
                <a16:creationId xmlns:a16="http://schemas.microsoft.com/office/drawing/2014/main" id="{0DF6086D-46A2-8574-9807-C0446A183993}"/>
              </a:ext>
            </a:extLst>
          </p:cNvPr>
          <p:cNvSpPr/>
          <p:nvPr/>
        </p:nvSpPr>
        <p:spPr>
          <a:xfrm>
            <a:off x="1066800" y="1524000"/>
            <a:ext cx="3352800" cy="2190930"/>
          </a:xfrm>
          <a:prstGeom prst="round2Same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5" name="TextBox 14">
            <a:extLst>
              <a:ext uri="{FF2B5EF4-FFF2-40B4-BE49-F238E27FC236}">
                <a16:creationId xmlns:a16="http://schemas.microsoft.com/office/drawing/2014/main" id="{446FB7A0-0FB0-6747-3EC0-1E04D40BB1B9}"/>
              </a:ext>
            </a:extLst>
          </p:cNvPr>
          <p:cNvSpPr txBox="1"/>
          <p:nvPr/>
        </p:nvSpPr>
        <p:spPr>
          <a:xfrm>
            <a:off x="6022731" y="5925953"/>
            <a:ext cx="312336" cy="369332"/>
          </a:xfrm>
          <a:prstGeom prst="rect">
            <a:avLst/>
          </a:prstGeom>
          <a:noFill/>
        </p:spPr>
        <p:txBody>
          <a:bodyPr wrap="square" rtlCol="0">
            <a:spAutoFit/>
          </a:bodyPr>
          <a:lstStyle/>
          <a:p>
            <a:r>
              <a:rPr lang="en-IN"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D29B5-3CAC-0EFB-F859-B592C2E2155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F22E959-1025-CE9F-87A5-1C8E696BCCAB}"/>
              </a:ext>
            </a:extLst>
          </p:cNvPr>
          <p:cNvSpPr txBox="1">
            <a:spLocks noGrp="1"/>
          </p:cNvSpPr>
          <p:nvPr>
            <p:ph type="title"/>
          </p:nvPr>
        </p:nvSpPr>
        <p:spPr>
          <a:xfrm>
            <a:off x="2743200" y="284163"/>
            <a:ext cx="6477000" cy="566822"/>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lang="en-IN" sz="3600" spc="-10" dirty="0">
                <a:solidFill>
                  <a:schemeClr val="bg1"/>
                </a:solidFill>
              </a:rPr>
              <a:t>Description</a:t>
            </a:r>
            <a:r>
              <a:rPr sz="3600" spc="-25" dirty="0">
                <a:solidFill>
                  <a:schemeClr val="bg1"/>
                </a:solidFill>
              </a:rPr>
              <a:t> </a:t>
            </a:r>
            <a:endParaRPr sz="3600" dirty="0">
              <a:solidFill>
                <a:schemeClr val="bg1"/>
              </a:solidFill>
            </a:endParaRPr>
          </a:p>
        </p:txBody>
      </p:sp>
      <p:sp>
        <p:nvSpPr>
          <p:cNvPr id="3" name="TextBox 2">
            <a:extLst>
              <a:ext uri="{FF2B5EF4-FFF2-40B4-BE49-F238E27FC236}">
                <a16:creationId xmlns:a16="http://schemas.microsoft.com/office/drawing/2014/main" id="{A06FAA8B-7366-1D4A-E9A9-8F0436C07720}"/>
              </a:ext>
            </a:extLst>
          </p:cNvPr>
          <p:cNvSpPr txBox="1"/>
          <p:nvPr/>
        </p:nvSpPr>
        <p:spPr>
          <a:xfrm>
            <a:off x="609600" y="1600200"/>
            <a:ext cx="10972800" cy="4093428"/>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is a </a:t>
            </a:r>
            <a:r>
              <a:rPr lang="en-US" sz="2000" b="1" dirty="0">
                <a:latin typeface="Times New Roman" panose="02020603050405020304" pitchFamily="18" charset="0"/>
                <a:cs typeface="Times New Roman" panose="02020603050405020304" pitchFamily="18" charset="0"/>
              </a:rPr>
              <a:t>MATLAB/Simulink implementation</a:t>
            </a:r>
            <a:r>
              <a:rPr lang="en-US" sz="2000" dirty="0">
                <a:latin typeface="Times New Roman" panose="02020603050405020304" pitchFamily="18" charset="0"/>
                <a:cs typeface="Times New Roman" panose="02020603050405020304" pitchFamily="18" charset="0"/>
              </a:rPr>
              <a:t> of a </a:t>
            </a:r>
            <a:r>
              <a:rPr lang="en-US" sz="2000" b="1" dirty="0">
                <a:latin typeface="Times New Roman" panose="02020603050405020304" pitchFamily="18" charset="0"/>
                <a:cs typeface="Times New Roman" panose="02020603050405020304" pitchFamily="18" charset="0"/>
              </a:rPr>
              <a:t>Vienna rectifier topology</a:t>
            </a:r>
            <a:r>
              <a:rPr lang="en-US" sz="2000" dirty="0">
                <a:latin typeface="Times New Roman" panose="02020603050405020304" pitchFamily="18" charset="0"/>
                <a:cs typeface="Times New Roman" panose="02020603050405020304" pitchFamily="18" charset="0"/>
              </a:rPr>
              <a:t> for high-power AC–DC conversion.</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Three-phase AC source</a:t>
            </a:r>
            <a:r>
              <a:rPr lang="en-US" sz="2000" dirty="0">
                <a:latin typeface="Times New Roman" panose="02020603050405020304" pitchFamily="18" charset="0"/>
                <a:cs typeface="Times New Roman" panose="02020603050405020304" pitchFamily="18" charset="0"/>
              </a:rPr>
              <a:t> is connected through inductors to the rectifier stage.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rectifier consists of </a:t>
            </a:r>
            <a:r>
              <a:rPr lang="en-US" sz="2000" b="1" dirty="0">
                <a:latin typeface="Times New Roman" panose="02020603050405020304" pitchFamily="18" charset="0"/>
                <a:cs typeface="Times New Roman" panose="02020603050405020304" pitchFamily="18" charset="0"/>
              </a:rPr>
              <a:t>three bidirectional switches and diodes</a:t>
            </a:r>
            <a:r>
              <a:rPr lang="en-US" sz="2000" dirty="0">
                <a:latin typeface="Times New Roman" panose="02020603050405020304" pitchFamily="18" charset="0"/>
                <a:cs typeface="Times New Roman" panose="02020603050405020304" pitchFamily="18" charset="0"/>
              </a:rPr>
              <a:t> arranged in a </a:t>
            </a:r>
            <a:r>
              <a:rPr lang="en-US" sz="2000" b="1" dirty="0">
                <a:latin typeface="Times New Roman" panose="02020603050405020304" pitchFamily="18" charset="0"/>
                <a:cs typeface="Times New Roman" panose="02020603050405020304" pitchFamily="18" charset="0"/>
              </a:rPr>
              <a:t>three-level topology</a:t>
            </a:r>
            <a:r>
              <a:rPr lang="en-US" sz="2000" dirty="0">
                <a:latin typeface="Times New Roman" panose="02020603050405020304" pitchFamily="18" charset="0"/>
                <a:cs typeface="Times New Roman" panose="02020603050405020304" pitchFamily="18" charset="0"/>
              </a:rPr>
              <a:t>, reducing switching stress and improving efficiency.</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Control Strategy</a:t>
            </a:r>
            <a:r>
              <a:rPr lang="en-US" sz="2000" dirty="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Phase-Locked Loop (PLL):</a:t>
            </a:r>
            <a:r>
              <a:rPr lang="en-US" sz="2000" dirty="0">
                <a:latin typeface="Times New Roman" panose="02020603050405020304" pitchFamily="18" charset="0"/>
                <a:cs typeface="Times New Roman" panose="02020603050405020304" pitchFamily="18" charset="0"/>
              </a:rPr>
              <a:t> Synchronizes with grid voltage for reference generation.</a:t>
            </a:r>
          </a:p>
          <a:p>
            <a:pPr marL="800100" lvl="1"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Voltage Controller (PI):</a:t>
            </a:r>
            <a:r>
              <a:rPr lang="en-US" sz="2000" dirty="0">
                <a:latin typeface="Times New Roman" panose="02020603050405020304" pitchFamily="18" charset="0"/>
                <a:cs typeface="Times New Roman" panose="02020603050405020304" pitchFamily="18" charset="0"/>
              </a:rPr>
              <a:t> Maintains constant DC-link voltage by adjusting reference current.</a:t>
            </a:r>
          </a:p>
          <a:p>
            <a:pPr marL="800100" lvl="1"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Current Controller:</a:t>
            </a:r>
            <a:r>
              <a:rPr lang="en-US" sz="2000" dirty="0">
                <a:latin typeface="Times New Roman" panose="02020603050405020304" pitchFamily="18" charset="0"/>
                <a:cs typeface="Times New Roman" panose="02020603050405020304" pitchFamily="18" charset="0"/>
              </a:rPr>
              <a:t> Ensures input current follows sinusoidal reference for PFC.</a:t>
            </a:r>
          </a:p>
          <a:p>
            <a:pPr marL="800100" lvl="1"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Center-Point Voltage Controller:</a:t>
            </a:r>
            <a:r>
              <a:rPr lang="en-US" sz="2000" dirty="0">
                <a:latin typeface="Times New Roman" panose="02020603050405020304" pitchFamily="18" charset="0"/>
                <a:cs typeface="Times New Roman" panose="02020603050405020304" pitchFamily="18" charset="0"/>
              </a:rPr>
              <a:t> Balances split DC-link capacitor voltages to avoid instability.</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Output:</a:t>
            </a:r>
            <a:r>
              <a:rPr lang="en-US" sz="2000" dirty="0">
                <a:latin typeface="Times New Roman" panose="02020603050405020304" pitchFamily="18" charset="0"/>
                <a:cs typeface="Times New Roman" panose="02020603050405020304" pitchFamily="18" charset="0"/>
              </a:rPr>
              <a:t> A regulated DC voltage suitable for driving an </a:t>
            </a:r>
            <a:r>
              <a:rPr lang="en-US" sz="2000" b="1" dirty="0">
                <a:latin typeface="Times New Roman" panose="02020603050405020304" pitchFamily="18" charset="0"/>
                <a:cs typeface="Times New Roman" panose="02020603050405020304" pitchFamily="18" charset="0"/>
              </a:rPr>
              <a:t>inverter-fed motor drive</a:t>
            </a:r>
            <a:r>
              <a:rPr 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simulation includes measurement blocks to observe </a:t>
            </a:r>
            <a:r>
              <a:rPr lang="en-US" sz="2000" b="1" dirty="0">
                <a:latin typeface="Times New Roman" panose="02020603050405020304" pitchFamily="18" charset="0"/>
                <a:cs typeface="Times New Roman" panose="02020603050405020304" pitchFamily="18" charset="0"/>
              </a:rPr>
              <a:t>power factor, THD, capacitor voltages, and output current waveforms</a:t>
            </a:r>
            <a:r>
              <a:rPr lang="en-US" sz="2000" dirty="0">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B2E7E786-1B00-8378-5178-737778713442}"/>
              </a:ext>
            </a:extLst>
          </p:cNvPr>
          <p:cNvSpPr txBox="1"/>
          <p:nvPr/>
        </p:nvSpPr>
        <p:spPr>
          <a:xfrm>
            <a:off x="5943600" y="5867400"/>
            <a:ext cx="304800" cy="369332"/>
          </a:xfrm>
          <a:prstGeom prst="rect">
            <a:avLst/>
          </a:prstGeom>
          <a:noFill/>
        </p:spPr>
        <p:txBody>
          <a:bodyPr wrap="square" rtlCol="0">
            <a:spAutoFit/>
          </a:bodyPr>
          <a:lstStyle/>
          <a:p>
            <a:r>
              <a:rPr lang="en-IN" dirty="0"/>
              <a:t>4</a:t>
            </a:r>
          </a:p>
        </p:txBody>
      </p:sp>
    </p:spTree>
    <p:extLst>
      <p:ext uri="{BB962C8B-B14F-4D97-AF65-F5344CB8AC3E}">
        <p14:creationId xmlns:p14="http://schemas.microsoft.com/office/powerpoint/2010/main" val="152219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3EEAE-3034-07EF-B67E-BF33DD883D1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3AE5212-7C85-8863-0A2C-4055B601B0F6}"/>
              </a:ext>
            </a:extLst>
          </p:cNvPr>
          <p:cNvSpPr txBox="1">
            <a:spLocks noGrp="1"/>
          </p:cNvSpPr>
          <p:nvPr>
            <p:ph type="title"/>
          </p:nvPr>
        </p:nvSpPr>
        <p:spPr>
          <a:xfrm>
            <a:off x="4087019" y="271378"/>
            <a:ext cx="4017962" cy="566822"/>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lang="en-IN" sz="3600" spc="-5" dirty="0">
                <a:solidFill>
                  <a:schemeClr val="bg1"/>
                </a:solidFill>
              </a:rPr>
              <a:t>Literature</a:t>
            </a:r>
            <a:r>
              <a:rPr lang="en-IN" sz="3600" spc="-100" dirty="0">
                <a:solidFill>
                  <a:schemeClr val="bg1"/>
                </a:solidFill>
              </a:rPr>
              <a:t> </a:t>
            </a:r>
            <a:r>
              <a:rPr lang="en-IN" sz="3600" spc="-5" dirty="0">
                <a:solidFill>
                  <a:schemeClr val="bg1"/>
                </a:solidFill>
              </a:rPr>
              <a:t>Survey</a:t>
            </a:r>
            <a:endParaRPr lang="en-IN" sz="3600" dirty="0">
              <a:solidFill>
                <a:schemeClr val="bg1"/>
              </a:solidFill>
            </a:endParaRPr>
          </a:p>
        </p:txBody>
      </p:sp>
      <p:graphicFrame>
        <p:nvGraphicFramePr>
          <p:cNvPr id="3" name="Content Placeholder 1">
            <a:extLst>
              <a:ext uri="{FF2B5EF4-FFF2-40B4-BE49-F238E27FC236}">
                <a16:creationId xmlns:a16="http://schemas.microsoft.com/office/drawing/2014/main" id="{B22E678E-D8B5-C1FE-B1AA-11EAFB475558}"/>
              </a:ext>
            </a:extLst>
          </p:cNvPr>
          <p:cNvGraphicFramePr>
            <a:graphicFrameLocks/>
          </p:cNvGraphicFramePr>
          <p:nvPr>
            <p:extLst>
              <p:ext uri="{D42A27DB-BD31-4B8C-83A1-F6EECF244321}">
                <p14:modId xmlns:p14="http://schemas.microsoft.com/office/powerpoint/2010/main" val="399639794"/>
              </p:ext>
            </p:extLst>
          </p:nvPr>
        </p:nvGraphicFramePr>
        <p:xfrm>
          <a:off x="266700" y="1295400"/>
          <a:ext cx="11658600" cy="3688080"/>
        </p:xfrm>
        <a:graphic>
          <a:graphicData uri="http://schemas.openxmlformats.org/drawingml/2006/table">
            <a:tbl>
              <a:tblPr firstRow="1" bandRow="1">
                <a:tableStyleId>{5C22544A-7EE6-4342-B048-85BDC9FD1C3A}</a:tableStyleId>
              </a:tblPr>
              <a:tblGrid>
                <a:gridCol w="3281680">
                  <a:extLst>
                    <a:ext uri="{9D8B030D-6E8A-4147-A177-3AD203B41FA5}">
                      <a16:colId xmlns:a16="http://schemas.microsoft.com/office/drawing/2014/main" val="354323440"/>
                    </a:ext>
                  </a:extLst>
                </a:gridCol>
                <a:gridCol w="2852420">
                  <a:extLst>
                    <a:ext uri="{9D8B030D-6E8A-4147-A177-3AD203B41FA5}">
                      <a16:colId xmlns:a16="http://schemas.microsoft.com/office/drawing/2014/main" val="314538328"/>
                    </a:ext>
                  </a:extLst>
                </a:gridCol>
                <a:gridCol w="2760980">
                  <a:extLst>
                    <a:ext uri="{9D8B030D-6E8A-4147-A177-3AD203B41FA5}">
                      <a16:colId xmlns:a16="http://schemas.microsoft.com/office/drawing/2014/main" val="1748980198"/>
                    </a:ext>
                  </a:extLst>
                </a:gridCol>
                <a:gridCol w="2763520">
                  <a:extLst>
                    <a:ext uri="{9D8B030D-6E8A-4147-A177-3AD203B41FA5}">
                      <a16:colId xmlns:a16="http://schemas.microsoft.com/office/drawing/2014/main" val="1858748129"/>
                    </a:ext>
                  </a:extLst>
                </a:gridCol>
              </a:tblGrid>
              <a:tr h="561559">
                <a:tc>
                  <a:txBody>
                    <a:bodyPr/>
                    <a:lstStyle/>
                    <a:p>
                      <a:pPr algn="ctr"/>
                      <a:r>
                        <a:rPr lang="en-IN" dirty="0"/>
                        <a:t>PAPER </a:t>
                      </a:r>
                    </a:p>
                    <a:p>
                      <a:pPr algn="ctr"/>
                      <a:r>
                        <a:rPr lang="en-IN" dirty="0"/>
                        <a:t>TITLE &amp; AUTHOR</a:t>
                      </a:r>
                    </a:p>
                  </a:txBody>
                  <a:tcPr anchor="ctr"/>
                </a:tc>
                <a:tc>
                  <a:txBody>
                    <a:bodyPr/>
                    <a:lstStyle/>
                    <a:p>
                      <a:pPr algn="ctr"/>
                      <a:r>
                        <a:rPr lang="en-IN" dirty="0"/>
                        <a:t>OUTCOME</a:t>
                      </a:r>
                    </a:p>
                  </a:txBody>
                  <a:tcPr anchor="ctr"/>
                </a:tc>
                <a:tc>
                  <a:txBody>
                    <a:bodyPr/>
                    <a:lstStyle/>
                    <a:p>
                      <a:pPr algn="ctr"/>
                      <a:r>
                        <a:rPr lang="en-IN" dirty="0"/>
                        <a:t>LIMITATION</a:t>
                      </a:r>
                    </a:p>
                  </a:txBody>
                  <a:tcPr anchor="ctr"/>
                </a:tc>
                <a:tc>
                  <a:txBody>
                    <a:bodyPr/>
                    <a:lstStyle/>
                    <a:p>
                      <a:pPr algn="ctr"/>
                      <a:r>
                        <a:rPr lang="en-IN" dirty="0"/>
                        <a:t>HOW OUR PROJECT IMPROVES</a:t>
                      </a:r>
                    </a:p>
                  </a:txBody>
                  <a:tcPr anchor="ctr"/>
                </a:tc>
                <a:extLst>
                  <a:ext uri="{0D108BD9-81ED-4DB2-BD59-A6C34878D82A}">
                    <a16:rowId xmlns:a16="http://schemas.microsoft.com/office/drawing/2014/main" val="1981143983"/>
                  </a:ext>
                </a:extLst>
              </a:tr>
              <a:tr h="1109747">
                <a:tc>
                  <a:txBody>
                    <a:bodyPr/>
                    <a:lstStyle/>
                    <a:p>
                      <a:pPr algn="l"/>
                      <a:r>
                        <a:rPr lang="en-IN" sz="1400" i="1" dirty="0"/>
                        <a:t>“Three-phase Three-level Boost-type Front-end PFC Rectifier for Improving Power Quality at Input AC Mains of Telecom Loads”</a:t>
                      </a:r>
                      <a:r>
                        <a:rPr lang="en-IN" sz="1400" dirty="0"/>
                        <a:t> – Saravana Prakash P., R. Kalpana, Bhim Singh (JPE, 2018)</a:t>
                      </a:r>
                    </a:p>
                  </a:txBody>
                  <a:tcPr/>
                </a:tc>
                <a:tc>
                  <a:txBody>
                    <a:bodyPr/>
                    <a:lstStyle/>
                    <a:p>
                      <a:pPr algn="l"/>
                      <a:r>
                        <a:rPr lang="en-US" sz="1400" dirty="0"/>
                        <a:t>Achieved high PF (~0.99), THD &lt;5%, reduced switching stress in telecom supplies.</a:t>
                      </a:r>
                      <a:endParaRPr lang="en-IN" sz="1400" dirty="0"/>
                    </a:p>
                  </a:txBody>
                  <a:tcPr/>
                </a:tc>
                <a:tc>
                  <a:txBody>
                    <a:bodyPr/>
                    <a:lstStyle/>
                    <a:p>
                      <a:pPr algn="l"/>
                      <a:r>
                        <a:rPr lang="en-US" sz="1400" dirty="0"/>
                        <a:t>Limited only to </a:t>
                      </a:r>
                      <a:r>
                        <a:rPr lang="en-US" sz="1400" b="0" dirty="0"/>
                        <a:t>telecom DC power systems</a:t>
                      </a:r>
                      <a:r>
                        <a:rPr lang="en-US" sz="1400" dirty="0"/>
                        <a:t>, not suitable for dynamic loads like motors.</a:t>
                      </a:r>
                      <a:endParaRPr lang="en-IN" sz="1400" dirty="0"/>
                    </a:p>
                  </a:txBody>
                  <a:tcPr/>
                </a:tc>
                <a:tc>
                  <a:txBody>
                    <a:bodyPr/>
                    <a:lstStyle/>
                    <a:p>
                      <a:pPr algn="l"/>
                      <a:r>
                        <a:rPr lang="en-US" sz="1400" dirty="0"/>
                        <a:t>Our project extends Vienna rectifier benefits to </a:t>
                      </a:r>
                      <a:r>
                        <a:rPr lang="en-US" sz="1400" b="0" dirty="0"/>
                        <a:t>industrial motor drives, </a:t>
                      </a:r>
                      <a:r>
                        <a:rPr lang="en-US" sz="1400" dirty="0"/>
                        <a:t>where </a:t>
                      </a:r>
                      <a:r>
                        <a:rPr lang="en-US" sz="1400" b="0" dirty="0"/>
                        <a:t>load variation and speed control </a:t>
                      </a:r>
                      <a:r>
                        <a:rPr lang="en-US" sz="1400" dirty="0"/>
                        <a:t>are crucial.</a:t>
                      </a:r>
                      <a:endParaRPr lang="en-IN" sz="1400" dirty="0"/>
                    </a:p>
                  </a:txBody>
                  <a:tcPr/>
                </a:tc>
                <a:extLst>
                  <a:ext uri="{0D108BD9-81ED-4DB2-BD59-A6C34878D82A}">
                    <a16:rowId xmlns:a16="http://schemas.microsoft.com/office/drawing/2014/main" val="2050204651"/>
                  </a:ext>
                </a:extLst>
              </a:tr>
              <a:tr h="935931">
                <a:tc>
                  <a:txBody>
                    <a:bodyPr/>
                    <a:lstStyle/>
                    <a:p>
                      <a:pPr algn="l"/>
                      <a:r>
                        <a:rPr lang="en-IN" sz="1400" i="1" dirty="0"/>
                        <a:t>“Demystifying Three-Phase PFC Topologies”</a:t>
                      </a:r>
                      <a:r>
                        <a:rPr lang="en-IN" sz="1400" dirty="0"/>
                        <a:t> – Didier </a:t>
                      </a:r>
                      <a:r>
                        <a:rPr lang="en-IN" sz="1400" dirty="0" err="1"/>
                        <a:t>Balocco</a:t>
                      </a:r>
                      <a:r>
                        <a:rPr lang="en-IN" sz="1400" dirty="0"/>
                        <a:t>, Oriol </a:t>
                      </a:r>
                      <a:r>
                        <a:rPr lang="en-IN" sz="1400" dirty="0" err="1"/>
                        <a:t>Filló</a:t>
                      </a:r>
                      <a:r>
                        <a:rPr lang="en-IN" sz="1400" dirty="0"/>
                        <a:t> (How2Power Today, 2021)</a:t>
                      </a:r>
                    </a:p>
                  </a:txBody>
                  <a:tcPr/>
                </a:tc>
                <a:tc>
                  <a:txBody>
                    <a:bodyPr/>
                    <a:lstStyle/>
                    <a:p>
                      <a:pPr algn="l"/>
                      <a:r>
                        <a:rPr lang="en-US" sz="1400" dirty="0"/>
                        <a:t>Showed Vienna rectifier is superior in efficiency, EMI reduction, compactness compared to 2-level PFC.</a:t>
                      </a:r>
                      <a:endParaRPr lang="en-IN" sz="1400" dirty="0"/>
                    </a:p>
                  </a:txBody>
                  <a:tcPr/>
                </a:tc>
                <a:tc>
                  <a:txBody>
                    <a:bodyPr/>
                    <a:lstStyle/>
                    <a:p>
                      <a:pPr algn="l"/>
                      <a:r>
                        <a:rPr lang="en-US" sz="1400" dirty="0"/>
                        <a:t>Purely </a:t>
                      </a:r>
                      <a:r>
                        <a:rPr lang="en-US" sz="1400" b="0" dirty="0"/>
                        <a:t>theoretical/comparative study, </a:t>
                      </a:r>
                      <a:r>
                        <a:rPr lang="en-US" sz="1400" dirty="0"/>
                        <a:t>no experimental or motor drive implementation.</a:t>
                      </a:r>
                      <a:endParaRPr lang="en-IN" sz="1400" dirty="0"/>
                    </a:p>
                  </a:txBody>
                  <a:tcPr/>
                </a:tc>
                <a:tc>
                  <a:txBody>
                    <a:bodyPr/>
                    <a:lstStyle/>
                    <a:p>
                      <a:pPr algn="l"/>
                      <a:r>
                        <a:rPr lang="en-US" sz="1400" dirty="0"/>
                        <a:t>We </a:t>
                      </a:r>
                      <a:r>
                        <a:rPr lang="en-US" sz="1400" b="0" dirty="0"/>
                        <a:t>implemented &amp; simulated </a:t>
                      </a:r>
                      <a:r>
                        <a:rPr lang="en-US" sz="1400" dirty="0"/>
                        <a:t>Vienna rectifier with PI control in MATLAB/Simulink for </a:t>
                      </a:r>
                      <a:r>
                        <a:rPr lang="en-US" sz="1400" b="0" dirty="0"/>
                        <a:t>motor control integration.</a:t>
                      </a:r>
                      <a:endParaRPr lang="en-IN" sz="1400" b="0" dirty="0"/>
                    </a:p>
                  </a:txBody>
                  <a:tcPr/>
                </a:tc>
                <a:extLst>
                  <a:ext uri="{0D108BD9-81ED-4DB2-BD59-A6C34878D82A}">
                    <a16:rowId xmlns:a16="http://schemas.microsoft.com/office/drawing/2014/main" val="2655067975"/>
                  </a:ext>
                </a:extLst>
              </a:tr>
              <a:tr h="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i="1" dirty="0"/>
                        <a:t>“Three-Phase Vienna Rectifier Design Guide”</a:t>
                      </a:r>
                      <a:r>
                        <a:rPr lang="en-IN" sz="1400" dirty="0"/>
                        <a:t> – STMicroelectronics (App Note, 2022)</a:t>
                      </a:r>
                    </a:p>
                    <a:p>
                      <a:pPr algn="l"/>
                      <a:endParaRPr lang="en-IN" sz="1400" dirty="0"/>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dirty="0"/>
                        <a:t>15 kW EV charger, &gt;98% efficiency, PF &gt;0.99.</a:t>
                      </a:r>
                      <a:endParaRPr lang="en-IN" sz="1400" dirty="0"/>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dirty="0"/>
                        <a:t>Targeted </a:t>
                      </a:r>
                      <a:r>
                        <a:rPr lang="en-US" sz="1400" b="0" dirty="0"/>
                        <a:t>EV charging, </a:t>
                      </a:r>
                      <a:r>
                        <a:rPr lang="en-US" sz="1400" dirty="0"/>
                        <a:t>costly hardware.</a:t>
                      </a:r>
                      <a:endParaRPr lang="en-IN" sz="1400" dirty="0"/>
                    </a:p>
                  </a:txBody>
                  <a:tcPr/>
                </a:tc>
                <a:tc>
                  <a:txBody>
                    <a:bodyPr/>
                    <a:lstStyle/>
                    <a:p>
                      <a:pPr algn="l"/>
                      <a:r>
                        <a:rPr lang="en-IN" sz="1400" b="0" dirty="0"/>
                        <a:t>Cost-effective simulation for industrial automation.</a:t>
                      </a:r>
                    </a:p>
                  </a:txBody>
                  <a:tcPr/>
                </a:tc>
                <a:extLst>
                  <a:ext uri="{0D108BD9-81ED-4DB2-BD59-A6C34878D82A}">
                    <a16:rowId xmlns:a16="http://schemas.microsoft.com/office/drawing/2014/main" val="2458871628"/>
                  </a:ext>
                </a:extLst>
              </a:tr>
            </a:tbl>
          </a:graphicData>
        </a:graphic>
      </p:graphicFrame>
      <p:sp>
        <p:nvSpPr>
          <p:cNvPr id="5" name="TextBox 4">
            <a:extLst>
              <a:ext uri="{FF2B5EF4-FFF2-40B4-BE49-F238E27FC236}">
                <a16:creationId xmlns:a16="http://schemas.microsoft.com/office/drawing/2014/main" id="{947632D8-95F3-533E-43B1-3E4B33F91572}"/>
              </a:ext>
            </a:extLst>
          </p:cNvPr>
          <p:cNvSpPr txBox="1"/>
          <p:nvPr/>
        </p:nvSpPr>
        <p:spPr>
          <a:xfrm>
            <a:off x="5943600" y="5943600"/>
            <a:ext cx="304800" cy="369332"/>
          </a:xfrm>
          <a:prstGeom prst="rect">
            <a:avLst/>
          </a:prstGeom>
          <a:noFill/>
        </p:spPr>
        <p:txBody>
          <a:bodyPr wrap="square" rtlCol="0">
            <a:spAutoFit/>
          </a:bodyPr>
          <a:lstStyle/>
          <a:p>
            <a:r>
              <a:rPr lang="en-IN" dirty="0"/>
              <a:t>5</a:t>
            </a:r>
          </a:p>
        </p:txBody>
      </p:sp>
    </p:spTree>
    <p:extLst>
      <p:ext uri="{BB962C8B-B14F-4D97-AF65-F5344CB8AC3E}">
        <p14:creationId xmlns:p14="http://schemas.microsoft.com/office/powerpoint/2010/main" val="3735860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DF801D7-361C-11B7-2FFC-529B1D7D8B3A}"/>
              </a:ext>
            </a:extLst>
          </p:cNvPr>
          <p:cNvSpPr txBox="1">
            <a:spLocks noGrp="1"/>
          </p:cNvSpPr>
          <p:nvPr>
            <p:ph type="title"/>
          </p:nvPr>
        </p:nvSpPr>
        <p:spPr>
          <a:xfrm>
            <a:off x="1765579" y="206391"/>
            <a:ext cx="8458200" cy="1490152"/>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lang="en-IN" sz="3200" spc="-5" dirty="0">
                <a:solidFill>
                  <a:schemeClr val="bg1"/>
                </a:solidFill>
              </a:rPr>
              <a:t>Flowchart and Block diagram</a:t>
            </a:r>
            <a:br>
              <a:rPr lang="en-IN" sz="3200" spc="-5" dirty="0">
                <a:solidFill>
                  <a:schemeClr val="bg1"/>
                </a:solidFill>
              </a:rPr>
            </a:br>
            <a:br>
              <a:rPr lang="en-IN" sz="3200" spc="-5" dirty="0">
                <a:solidFill>
                  <a:schemeClr val="bg1"/>
                </a:solidFill>
              </a:rPr>
            </a:br>
            <a:endParaRPr sz="3200" dirty="0">
              <a:solidFill>
                <a:schemeClr val="bg1"/>
              </a:solidFill>
            </a:endParaRPr>
          </a:p>
        </p:txBody>
      </p:sp>
      <p:sp>
        <p:nvSpPr>
          <p:cNvPr id="5" name="TextBox 4">
            <a:extLst>
              <a:ext uri="{FF2B5EF4-FFF2-40B4-BE49-F238E27FC236}">
                <a16:creationId xmlns:a16="http://schemas.microsoft.com/office/drawing/2014/main" id="{1B7BFD5E-257E-0DE4-6451-A58A67B149F5}"/>
              </a:ext>
            </a:extLst>
          </p:cNvPr>
          <p:cNvSpPr txBox="1"/>
          <p:nvPr/>
        </p:nvSpPr>
        <p:spPr>
          <a:xfrm>
            <a:off x="1219200" y="1395587"/>
            <a:ext cx="10134600" cy="646331"/>
          </a:xfrm>
          <a:prstGeom prst="rect">
            <a:avLst/>
          </a:prstGeom>
          <a:noFill/>
        </p:spPr>
        <p:txBody>
          <a:bodyPr wrap="square">
            <a:spAutoFit/>
          </a:bodyPr>
          <a:lstStyle/>
          <a:p>
            <a:pPr algn="just"/>
            <a:endParaRPr lang="en-US" sz="2000" b="1" dirty="0">
              <a:latin typeface="+mj-lt"/>
            </a:endParaRPr>
          </a:p>
          <a:p>
            <a:pPr algn="just"/>
            <a:endParaRPr lang="en-IN" sz="1600" dirty="0"/>
          </a:p>
        </p:txBody>
      </p:sp>
      <p:sp>
        <p:nvSpPr>
          <p:cNvPr id="6" name="TextBox 5">
            <a:extLst>
              <a:ext uri="{FF2B5EF4-FFF2-40B4-BE49-F238E27FC236}">
                <a16:creationId xmlns:a16="http://schemas.microsoft.com/office/drawing/2014/main" id="{8E655CCC-DB62-ADC2-DC86-99FAE1741DD4}"/>
              </a:ext>
            </a:extLst>
          </p:cNvPr>
          <p:cNvSpPr txBox="1"/>
          <p:nvPr/>
        </p:nvSpPr>
        <p:spPr>
          <a:xfrm>
            <a:off x="5994679" y="5906532"/>
            <a:ext cx="381000" cy="369332"/>
          </a:xfrm>
          <a:prstGeom prst="rect">
            <a:avLst/>
          </a:prstGeom>
          <a:noFill/>
        </p:spPr>
        <p:txBody>
          <a:bodyPr wrap="square" rtlCol="0">
            <a:spAutoFit/>
          </a:bodyPr>
          <a:lstStyle/>
          <a:p>
            <a:r>
              <a:rPr lang="en-IN" dirty="0"/>
              <a:t>6</a:t>
            </a:r>
          </a:p>
        </p:txBody>
      </p:sp>
      <p:pic>
        <p:nvPicPr>
          <p:cNvPr id="10" name="Picture 9" descr="A diagram of a diagram&#10;&#10;AI-generated content may be incorrect.">
            <a:extLst>
              <a:ext uri="{FF2B5EF4-FFF2-40B4-BE49-F238E27FC236}">
                <a16:creationId xmlns:a16="http://schemas.microsoft.com/office/drawing/2014/main" id="{73840C56-3BA1-A84A-8445-E45CDF6C48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1066800"/>
            <a:ext cx="1941970" cy="5410200"/>
          </a:xfrm>
          <a:prstGeom prst="rect">
            <a:avLst/>
          </a:prstGeom>
        </p:spPr>
      </p:pic>
      <p:pic>
        <p:nvPicPr>
          <p:cNvPr id="4" name="Picture 3">
            <a:extLst>
              <a:ext uri="{FF2B5EF4-FFF2-40B4-BE49-F238E27FC236}">
                <a16:creationId xmlns:a16="http://schemas.microsoft.com/office/drawing/2014/main" id="{FC2C8FD9-AAFE-43E5-058E-DAA544140D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2140" y="1580465"/>
            <a:ext cx="5119018" cy="36970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CB1A-1BD3-514C-580C-2FCBDD26CAA4}"/>
              </a:ext>
            </a:extLst>
          </p:cNvPr>
          <p:cNvSpPr>
            <a:spLocks noGrp="1"/>
          </p:cNvSpPr>
          <p:nvPr>
            <p:ph type="title"/>
          </p:nvPr>
        </p:nvSpPr>
        <p:spPr>
          <a:xfrm>
            <a:off x="4076700" y="3228945"/>
            <a:ext cx="2514600" cy="400110"/>
          </a:xfrm>
        </p:spPr>
        <p:txBody>
          <a:bodyPr/>
          <a:lstStyle/>
          <a:p>
            <a:endParaRPr lang="en-IN" dirty="0"/>
          </a:p>
        </p:txBody>
      </p:sp>
      <p:sp>
        <p:nvSpPr>
          <p:cNvPr id="4" name="TextBox 3">
            <a:extLst>
              <a:ext uri="{FF2B5EF4-FFF2-40B4-BE49-F238E27FC236}">
                <a16:creationId xmlns:a16="http://schemas.microsoft.com/office/drawing/2014/main" id="{20BBECA8-369E-7092-0DDB-B474201B947E}"/>
              </a:ext>
            </a:extLst>
          </p:cNvPr>
          <p:cNvSpPr txBox="1"/>
          <p:nvPr/>
        </p:nvSpPr>
        <p:spPr>
          <a:xfrm>
            <a:off x="4533900" y="189636"/>
            <a:ext cx="3733800" cy="584775"/>
          </a:xfrm>
          <a:prstGeom prst="rect">
            <a:avLst/>
          </a:prstGeom>
          <a:noFill/>
        </p:spPr>
        <p:txBody>
          <a:bodyPr wrap="square" rtlCol="0">
            <a:spAutoFit/>
          </a:bodyPr>
          <a:lstStyle/>
          <a:p>
            <a:r>
              <a:rPr lang="en-IN" sz="3200" b="1" spc="-5" dirty="0">
                <a:solidFill>
                  <a:schemeClr val="bg1"/>
                </a:solidFill>
                <a:latin typeface="Times New Roman" panose="02020603050405020304" pitchFamily="18" charset="0"/>
                <a:cs typeface="Times New Roman" panose="02020603050405020304" pitchFamily="18" charset="0"/>
              </a:rPr>
              <a:t>Circuit Design</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62BE227-3FBA-64EE-9EFE-DF4B1B0ADBEE}"/>
              </a:ext>
            </a:extLst>
          </p:cNvPr>
          <p:cNvSpPr txBox="1"/>
          <p:nvPr/>
        </p:nvSpPr>
        <p:spPr>
          <a:xfrm>
            <a:off x="5943600" y="6075733"/>
            <a:ext cx="914400" cy="369332"/>
          </a:xfrm>
          <a:prstGeom prst="rect">
            <a:avLst/>
          </a:prstGeom>
          <a:noFill/>
        </p:spPr>
        <p:txBody>
          <a:bodyPr wrap="square" rtlCol="0">
            <a:spAutoFit/>
          </a:bodyPr>
          <a:lstStyle/>
          <a:p>
            <a:r>
              <a:rPr lang="en-IN" dirty="0"/>
              <a:t>7</a:t>
            </a:r>
          </a:p>
        </p:txBody>
      </p:sp>
      <p:pic>
        <p:nvPicPr>
          <p:cNvPr id="7" name="Picture 6" descr="A diagram of a computer&#10;&#10;AI-generated content may be incorrect.">
            <a:extLst>
              <a:ext uri="{FF2B5EF4-FFF2-40B4-BE49-F238E27FC236}">
                <a16:creationId xmlns:a16="http://schemas.microsoft.com/office/drawing/2014/main" id="{90D56047-BAFC-6626-678B-20C83DCD81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111287"/>
            <a:ext cx="10820400" cy="5060913"/>
          </a:xfrm>
          <a:prstGeom prst="rect">
            <a:avLst/>
          </a:prstGeom>
        </p:spPr>
      </p:pic>
    </p:spTree>
    <p:extLst>
      <p:ext uri="{BB962C8B-B14F-4D97-AF65-F5344CB8AC3E}">
        <p14:creationId xmlns:p14="http://schemas.microsoft.com/office/powerpoint/2010/main" val="1730890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987C1-AAC4-2EB1-C648-687F5C3A2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5D67E-4C8F-834C-3785-0F2C2197AE93}"/>
              </a:ext>
            </a:extLst>
          </p:cNvPr>
          <p:cNvSpPr>
            <a:spLocks noGrp="1"/>
          </p:cNvSpPr>
          <p:nvPr>
            <p:ph type="title"/>
          </p:nvPr>
        </p:nvSpPr>
        <p:spPr>
          <a:xfrm>
            <a:off x="228600" y="1371600"/>
            <a:ext cx="3475566" cy="800219"/>
          </a:xfrm>
        </p:spPr>
        <p:txBody>
          <a:bodyPr/>
          <a:lstStyle/>
          <a:p>
            <a:r>
              <a:rPr lang="en-IN" dirty="0"/>
              <a:t>Simulation Blocks:</a:t>
            </a:r>
          </a:p>
        </p:txBody>
      </p:sp>
      <p:sp>
        <p:nvSpPr>
          <p:cNvPr id="4" name="TextBox 3">
            <a:extLst>
              <a:ext uri="{FF2B5EF4-FFF2-40B4-BE49-F238E27FC236}">
                <a16:creationId xmlns:a16="http://schemas.microsoft.com/office/drawing/2014/main" id="{91A85752-8930-17CC-4E91-27E483BACF92}"/>
              </a:ext>
            </a:extLst>
          </p:cNvPr>
          <p:cNvSpPr txBox="1"/>
          <p:nvPr/>
        </p:nvSpPr>
        <p:spPr>
          <a:xfrm>
            <a:off x="4800600" y="228600"/>
            <a:ext cx="3733800" cy="584775"/>
          </a:xfrm>
          <a:prstGeom prst="rect">
            <a:avLst/>
          </a:prstGeom>
          <a:noFill/>
        </p:spPr>
        <p:txBody>
          <a:bodyPr wrap="square" rtlCol="0">
            <a:spAutoFit/>
          </a:bodyPr>
          <a:lstStyle/>
          <a:p>
            <a:r>
              <a:rPr lang="en-IN" sz="3200" b="1" spc="-5" dirty="0">
                <a:solidFill>
                  <a:schemeClr val="bg1"/>
                </a:solidFill>
                <a:latin typeface="Times New Roman" panose="02020603050405020304" pitchFamily="18" charset="0"/>
                <a:cs typeface="Times New Roman" panose="02020603050405020304" pitchFamily="18" charset="0"/>
              </a:rPr>
              <a:t>Methodology</a:t>
            </a:r>
            <a:endParaRPr lang="en-IN"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BB58EE9-5DF3-BB64-8437-6D81C17BBBAA}"/>
              </a:ext>
            </a:extLst>
          </p:cNvPr>
          <p:cNvSpPr txBox="1"/>
          <p:nvPr/>
        </p:nvSpPr>
        <p:spPr>
          <a:xfrm>
            <a:off x="533400" y="1905000"/>
            <a:ext cx="10668000" cy="424731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1. Three-Phase AC Input &amp; Filter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balanced three-phase AC supply (labeled A, B, C) is used.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Connected through an RLC input filter to suppress high-frequency switching harmonics and improve power quality.</a:t>
            </a:r>
          </a:p>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Vienna Rectifier Bridge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Utilizes a three-level diode-clamped topology with bidirectional switches.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Converts AC to regulated DC while minimizing Total Harmonic Distortion (THD).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Enables bidirectional power flow and improved efficiency.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3. DC-Link Capacitor Network</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Split capacitors stabilize the DC output voltage.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Allows independent control of the center point voltage to avoid neutral point imbalance.</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B880D85-D8D8-D2CA-B66D-34AC8FBCF485}"/>
              </a:ext>
            </a:extLst>
          </p:cNvPr>
          <p:cNvSpPr txBox="1"/>
          <p:nvPr/>
        </p:nvSpPr>
        <p:spPr>
          <a:xfrm>
            <a:off x="6068367" y="5867400"/>
            <a:ext cx="914400" cy="369332"/>
          </a:xfrm>
          <a:prstGeom prst="rect">
            <a:avLst/>
          </a:prstGeom>
          <a:noFill/>
        </p:spPr>
        <p:txBody>
          <a:bodyPr wrap="square" rtlCol="0">
            <a:spAutoFit/>
          </a:bodyPr>
          <a:lstStyle/>
          <a:p>
            <a:r>
              <a:rPr lang="en-IN" dirty="0"/>
              <a:t>8</a:t>
            </a:r>
          </a:p>
        </p:txBody>
      </p:sp>
    </p:spTree>
    <p:extLst>
      <p:ext uri="{BB962C8B-B14F-4D97-AF65-F5344CB8AC3E}">
        <p14:creationId xmlns:p14="http://schemas.microsoft.com/office/powerpoint/2010/main" val="2092579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B2C8F-1798-B918-2DD3-309C18CF9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8DCF9-613C-F513-67BF-217A0E19272F}"/>
              </a:ext>
            </a:extLst>
          </p:cNvPr>
          <p:cNvSpPr>
            <a:spLocks noGrp="1"/>
          </p:cNvSpPr>
          <p:nvPr>
            <p:ph type="title"/>
          </p:nvPr>
        </p:nvSpPr>
        <p:spPr>
          <a:xfrm>
            <a:off x="228600" y="1371600"/>
            <a:ext cx="3475566" cy="800219"/>
          </a:xfrm>
        </p:spPr>
        <p:txBody>
          <a:bodyPr/>
          <a:lstStyle/>
          <a:p>
            <a:r>
              <a:rPr lang="en-IN" dirty="0"/>
              <a:t>Simulation Blocks:</a:t>
            </a:r>
          </a:p>
        </p:txBody>
      </p:sp>
      <p:sp>
        <p:nvSpPr>
          <p:cNvPr id="4" name="TextBox 3">
            <a:extLst>
              <a:ext uri="{FF2B5EF4-FFF2-40B4-BE49-F238E27FC236}">
                <a16:creationId xmlns:a16="http://schemas.microsoft.com/office/drawing/2014/main" id="{192877C7-8647-F4D7-6356-63C2B794540C}"/>
              </a:ext>
            </a:extLst>
          </p:cNvPr>
          <p:cNvSpPr txBox="1"/>
          <p:nvPr/>
        </p:nvSpPr>
        <p:spPr>
          <a:xfrm>
            <a:off x="4724400" y="249227"/>
            <a:ext cx="3733800" cy="584775"/>
          </a:xfrm>
          <a:prstGeom prst="rect">
            <a:avLst/>
          </a:prstGeom>
          <a:noFill/>
        </p:spPr>
        <p:txBody>
          <a:bodyPr wrap="square" rtlCol="0">
            <a:spAutoFit/>
          </a:bodyPr>
          <a:lstStyle/>
          <a:p>
            <a:r>
              <a:rPr lang="en-IN" sz="3200" b="1" spc="-5" dirty="0">
                <a:solidFill>
                  <a:schemeClr val="bg1"/>
                </a:solidFill>
                <a:latin typeface="Times New Roman" panose="02020603050405020304" pitchFamily="18" charset="0"/>
                <a:cs typeface="Times New Roman" panose="02020603050405020304" pitchFamily="18" charset="0"/>
              </a:rPr>
              <a:t>Methodology</a:t>
            </a:r>
            <a:endParaRPr lang="en-IN"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EE5E96C-F474-EAF6-0030-D869F0F34670}"/>
              </a:ext>
            </a:extLst>
          </p:cNvPr>
          <p:cNvSpPr txBox="1"/>
          <p:nvPr/>
        </p:nvSpPr>
        <p:spPr>
          <a:xfrm>
            <a:off x="533400" y="1905000"/>
            <a:ext cx="10668000" cy="369331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4. PLL (Phase Locked Loop)</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Locks onto the grid voltage to extract phase angle (θ).</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the necessary synchronization for control transformations (e.g., </a:t>
            </a:r>
            <a:r>
              <a:rPr lang="en-US" dirty="0" err="1">
                <a:latin typeface="Times New Roman" panose="02020603050405020304" pitchFamily="18" charset="0"/>
                <a:cs typeface="Times New Roman" panose="02020603050405020304" pitchFamily="18" charset="0"/>
              </a:rPr>
              <a:t>abc</a:t>
            </a:r>
            <a:r>
              <a:rPr lang="en-US" dirty="0">
                <a:latin typeface="Times New Roman" panose="02020603050405020304" pitchFamily="18" charset="0"/>
                <a:cs typeface="Times New Roman" panose="02020603050405020304" pitchFamily="18" charset="0"/>
              </a:rPr>
              <a:t> to </a:t>
            </a:r>
            <a:r>
              <a:rPr lang="en-US" dirty="0" err="1">
                <a:latin typeface="Times New Roman" panose="02020603050405020304" pitchFamily="18" charset="0"/>
                <a:cs typeface="Times New Roman" panose="02020603050405020304" pitchFamily="18" charset="0"/>
              </a:rPr>
              <a:t>dq</a:t>
            </a:r>
            <a:r>
              <a:rPr lang="en-US" dirty="0">
                <a:latin typeface="Times New Roman" panose="02020603050405020304" pitchFamily="18" charset="0"/>
                <a:cs typeface="Times New Roman" panose="02020603050405020304" pitchFamily="18" charset="0"/>
              </a:rPr>
              <a:t>).</a:t>
            </a:r>
          </a:p>
          <a:p>
            <a:br>
              <a:rPr lang="en-IN"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5. Voltage Control Loop</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 controller maintains the desired DC link voltage.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error between the reference and actual DC voltage is processed to generate the reference current signal.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6. Current Control Block</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Reference current is multiplied with phase voltages (from PLL) to produce modulated control signals.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Outputs [</a:t>
            </a:r>
            <a:r>
              <a:rPr lang="en-US" dirty="0" err="1">
                <a:latin typeface="Times New Roman" panose="02020603050405020304" pitchFamily="18" charset="0"/>
                <a:cs typeface="Times New Roman" panose="02020603050405020304" pitchFamily="18" charset="0"/>
              </a:rPr>
              <a:t>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eb</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ec</a:t>
            </a:r>
            <a:r>
              <a:rPr lang="en-US" dirty="0">
                <a:latin typeface="Times New Roman" panose="02020603050405020304" pitchFamily="18" charset="0"/>
                <a:cs typeface="Times New Roman" panose="02020603050405020304" pitchFamily="18" charset="0"/>
              </a:rPr>
              <a:t>] are used to drive the switching signals of the Vienna Rectifier.</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35FBA31-1193-425C-F564-B2B13019E0F5}"/>
              </a:ext>
            </a:extLst>
          </p:cNvPr>
          <p:cNvSpPr txBox="1"/>
          <p:nvPr/>
        </p:nvSpPr>
        <p:spPr>
          <a:xfrm>
            <a:off x="5947786" y="5947053"/>
            <a:ext cx="296427" cy="369332"/>
          </a:xfrm>
          <a:prstGeom prst="rect">
            <a:avLst/>
          </a:prstGeom>
          <a:noFill/>
        </p:spPr>
        <p:txBody>
          <a:bodyPr wrap="square" rtlCol="0">
            <a:spAutoFit/>
          </a:bodyPr>
          <a:lstStyle/>
          <a:p>
            <a:r>
              <a:rPr lang="en-IN" dirty="0"/>
              <a:t>9</a:t>
            </a:r>
          </a:p>
        </p:txBody>
      </p:sp>
    </p:spTree>
    <p:extLst>
      <p:ext uri="{BB962C8B-B14F-4D97-AF65-F5344CB8AC3E}">
        <p14:creationId xmlns:p14="http://schemas.microsoft.com/office/powerpoint/2010/main" val="915513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B901F-1BE9-1F4A-9AFD-0FEBE7E6AD2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D5C8732-9492-66CA-BA3F-CCE248C364DE}"/>
              </a:ext>
            </a:extLst>
          </p:cNvPr>
          <p:cNvSpPr txBox="1">
            <a:spLocks noGrp="1"/>
          </p:cNvSpPr>
          <p:nvPr>
            <p:ph type="title"/>
          </p:nvPr>
        </p:nvSpPr>
        <p:spPr>
          <a:xfrm>
            <a:off x="1866900" y="228600"/>
            <a:ext cx="8458200" cy="505267"/>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lang="en-IN" sz="3200" spc="-5" dirty="0">
                <a:solidFill>
                  <a:schemeClr val="bg1"/>
                </a:solidFill>
              </a:rPr>
              <a:t>Methodology</a:t>
            </a:r>
            <a:endParaRPr sz="3200" dirty="0">
              <a:solidFill>
                <a:schemeClr val="bg1"/>
              </a:solidFill>
            </a:endParaRPr>
          </a:p>
        </p:txBody>
      </p:sp>
      <p:sp>
        <p:nvSpPr>
          <p:cNvPr id="4" name="TextBox 3">
            <a:extLst>
              <a:ext uri="{FF2B5EF4-FFF2-40B4-BE49-F238E27FC236}">
                <a16:creationId xmlns:a16="http://schemas.microsoft.com/office/drawing/2014/main" id="{4D125934-299F-E56E-AA6A-8769891A8CC7}"/>
              </a:ext>
            </a:extLst>
          </p:cNvPr>
          <p:cNvSpPr txBox="1"/>
          <p:nvPr/>
        </p:nvSpPr>
        <p:spPr>
          <a:xfrm>
            <a:off x="5976254" y="5874277"/>
            <a:ext cx="500745" cy="369332"/>
          </a:xfrm>
          <a:prstGeom prst="rect">
            <a:avLst/>
          </a:prstGeom>
          <a:noFill/>
        </p:spPr>
        <p:txBody>
          <a:bodyPr wrap="square" rtlCol="0">
            <a:spAutoFit/>
          </a:bodyPr>
          <a:lstStyle/>
          <a:p>
            <a:r>
              <a:rPr lang="en-IN" dirty="0"/>
              <a:t>10</a:t>
            </a:r>
          </a:p>
        </p:txBody>
      </p:sp>
      <p:pic>
        <p:nvPicPr>
          <p:cNvPr id="7" name="Picture 6" descr="A diagram of a block diagram&#10;&#10;AI-generated content may be incorrect.">
            <a:extLst>
              <a:ext uri="{FF2B5EF4-FFF2-40B4-BE49-F238E27FC236}">
                <a16:creationId xmlns:a16="http://schemas.microsoft.com/office/drawing/2014/main" id="{13890360-68CD-F407-C931-488BFFD1FB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781" y="1389979"/>
            <a:ext cx="3424715" cy="2214871"/>
          </a:xfrm>
          <a:prstGeom prst="rect">
            <a:avLst/>
          </a:prstGeom>
        </p:spPr>
      </p:pic>
      <p:sp>
        <p:nvSpPr>
          <p:cNvPr id="8" name="TextBox 7">
            <a:extLst>
              <a:ext uri="{FF2B5EF4-FFF2-40B4-BE49-F238E27FC236}">
                <a16:creationId xmlns:a16="http://schemas.microsoft.com/office/drawing/2014/main" id="{15C3DD9D-51B6-93DE-3BCA-A1D43D2DB99D}"/>
              </a:ext>
            </a:extLst>
          </p:cNvPr>
          <p:cNvSpPr txBox="1"/>
          <p:nvPr/>
        </p:nvSpPr>
        <p:spPr>
          <a:xfrm>
            <a:off x="4572000" y="1249203"/>
            <a:ext cx="617220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Clark Transformation: </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abc</a:t>
            </a:r>
            <a:r>
              <a:rPr lang="en-IN" dirty="0">
                <a:latin typeface="Times New Roman" panose="02020603050405020304" pitchFamily="18" charset="0"/>
                <a:cs typeface="Times New Roman" panose="02020603050405020304" pitchFamily="18" charset="0"/>
              </a:rPr>
              <a:t> to </a:t>
            </a:r>
            <a:r>
              <a:rPr lang="el-GR" dirty="0"/>
              <a:t>αβ</a:t>
            </a:r>
            <a:r>
              <a:rPr lang="en-IN" dirty="0"/>
              <a:t> )</a:t>
            </a:r>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9" name="Double Bracket 8">
            <a:extLst>
              <a:ext uri="{FF2B5EF4-FFF2-40B4-BE49-F238E27FC236}">
                <a16:creationId xmlns:a16="http://schemas.microsoft.com/office/drawing/2014/main" id="{D77AA790-3B75-9B80-35D4-6C152AEB8D69}"/>
              </a:ext>
            </a:extLst>
          </p:cNvPr>
          <p:cNvSpPr/>
          <p:nvPr/>
        </p:nvSpPr>
        <p:spPr>
          <a:xfrm>
            <a:off x="4800600" y="1755135"/>
            <a:ext cx="685796" cy="914400"/>
          </a:xfrm>
          <a:prstGeom prst="bracket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10" name="TextBox 9">
            <a:extLst>
              <a:ext uri="{FF2B5EF4-FFF2-40B4-BE49-F238E27FC236}">
                <a16:creationId xmlns:a16="http://schemas.microsoft.com/office/drawing/2014/main" id="{83B1E4B3-479B-C71E-78A3-945F75862CF8}"/>
              </a:ext>
            </a:extLst>
          </p:cNvPr>
          <p:cNvSpPr txBox="1"/>
          <p:nvPr/>
        </p:nvSpPr>
        <p:spPr>
          <a:xfrm>
            <a:off x="4908551" y="1761968"/>
            <a:ext cx="533400" cy="784830"/>
          </a:xfrm>
          <a:prstGeom prst="rect">
            <a:avLst/>
          </a:prstGeom>
          <a:noFill/>
        </p:spPr>
        <p:txBody>
          <a:bodyPr wrap="square" rtlCol="0">
            <a:spAutoFit/>
          </a:bodyPr>
          <a:lstStyle/>
          <a:p>
            <a:pPr>
              <a:lnSpc>
                <a:spcPct val="150000"/>
              </a:lnSpc>
            </a:pPr>
            <a:r>
              <a:rPr lang="en-IN" dirty="0"/>
              <a:t>V</a:t>
            </a:r>
            <a:r>
              <a:rPr lang="el-GR" dirty="0"/>
              <a:t>α</a:t>
            </a:r>
            <a:endParaRPr lang="en-IN" dirty="0"/>
          </a:p>
          <a:p>
            <a:r>
              <a:rPr lang="en-IN" dirty="0"/>
              <a:t>V</a:t>
            </a:r>
            <a:r>
              <a:rPr lang="el-GR" dirty="0"/>
              <a:t>β</a:t>
            </a:r>
            <a:endParaRPr lang="en-IN" dirty="0"/>
          </a:p>
        </p:txBody>
      </p:sp>
      <p:sp>
        <p:nvSpPr>
          <p:cNvPr id="11" name="TextBox 10">
            <a:extLst>
              <a:ext uri="{FF2B5EF4-FFF2-40B4-BE49-F238E27FC236}">
                <a16:creationId xmlns:a16="http://schemas.microsoft.com/office/drawing/2014/main" id="{20B2E0BD-4D2E-1A27-AC01-83C8B4DC74D5}"/>
              </a:ext>
            </a:extLst>
          </p:cNvPr>
          <p:cNvSpPr txBox="1"/>
          <p:nvPr/>
        </p:nvSpPr>
        <p:spPr>
          <a:xfrm>
            <a:off x="5638799" y="2025104"/>
            <a:ext cx="952503" cy="369332"/>
          </a:xfrm>
          <a:prstGeom prst="rect">
            <a:avLst/>
          </a:prstGeom>
          <a:noFill/>
        </p:spPr>
        <p:txBody>
          <a:bodyPr wrap="square" rtlCol="0">
            <a:spAutoFit/>
          </a:bodyPr>
          <a:lstStyle/>
          <a:p>
            <a:r>
              <a:rPr lang="en-IN" dirty="0"/>
              <a:t>= 2/3</a:t>
            </a:r>
          </a:p>
        </p:txBody>
      </p:sp>
      <p:sp>
        <p:nvSpPr>
          <p:cNvPr id="12" name="Left Bracket 11">
            <a:extLst>
              <a:ext uri="{FF2B5EF4-FFF2-40B4-BE49-F238E27FC236}">
                <a16:creationId xmlns:a16="http://schemas.microsoft.com/office/drawing/2014/main" id="{6D75AD56-33AC-5D33-9EA4-58EDBBC0C77B}"/>
              </a:ext>
            </a:extLst>
          </p:cNvPr>
          <p:cNvSpPr/>
          <p:nvPr/>
        </p:nvSpPr>
        <p:spPr>
          <a:xfrm>
            <a:off x="6553202" y="1757670"/>
            <a:ext cx="304800" cy="911865"/>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13" name="TextBox 12">
            <a:extLst>
              <a:ext uri="{FF2B5EF4-FFF2-40B4-BE49-F238E27FC236}">
                <a16:creationId xmlns:a16="http://schemas.microsoft.com/office/drawing/2014/main" id="{443992BC-6D92-5D0D-80BC-CFEB0148C659}"/>
              </a:ext>
            </a:extLst>
          </p:cNvPr>
          <p:cNvSpPr txBox="1"/>
          <p:nvPr/>
        </p:nvSpPr>
        <p:spPr>
          <a:xfrm>
            <a:off x="6705600" y="1811354"/>
            <a:ext cx="2209798" cy="646331"/>
          </a:xfrm>
          <a:prstGeom prst="rect">
            <a:avLst/>
          </a:prstGeom>
          <a:noFill/>
        </p:spPr>
        <p:txBody>
          <a:bodyPr wrap="square" rtlCol="0">
            <a:spAutoFit/>
          </a:bodyPr>
          <a:lstStyle/>
          <a:p>
            <a:pPr marL="342900" indent="-342900">
              <a:buAutoNum type="arabicPlain"/>
            </a:pPr>
            <a:r>
              <a:rPr lang="en-IN" dirty="0"/>
              <a:t>  -1/2       -1/2</a:t>
            </a:r>
          </a:p>
          <a:p>
            <a:r>
              <a:rPr lang="en-IN" dirty="0"/>
              <a:t>0    √3/2       -√3/2</a:t>
            </a:r>
          </a:p>
        </p:txBody>
      </p:sp>
      <p:sp>
        <p:nvSpPr>
          <p:cNvPr id="14" name="Right Bracket 13">
            <a:extLst>
              <a:ext uri="{FF2B5EF4-FFF2-40B4-BE49-F238E27FC236}">
                <a16:creationId xmlns:a16="http://schemas.microsoft.com/office/drawing/2014/main" id="{F4E3C682-D170-93DC-E7A1-9D7C453FA790}"/>
              </a:ext>
            </a:extLst>
          </p:cNvPr>
          <p:cNvSpPr/>
          <p:nvPr/>
        </p:nvSpPr>
        <p:spPr>
          <a:xfrm>
            <a:off x="8724896" y="1752600"/>
            <a:ext cx="304800" cy="914400"/>
          </a:xfrm>
          <a:prstGeom prst="righ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15" name="Double Bracket 14">
            <a:extLst>
              <a:ext uri="{FF2B5EF4-FFF2-40B4-BE49-F238E27FC236}">
                <a16:creationId xmlns:a16="http://schemas.microsoft.com/office/drawing/2014/main" id="{72DC6FDF-46C1-6BA4-37A2-465802A03641}"/>
              </a:ext>
            </a:extLst>
          </p:cNvPr>
          <p:cNvSpPr/>
          <p:nvPr/>
        </p:nvSpPr>
        <p:spPr>
          <a:xfrm>
            <a:off x="9372600" y="1752600"/>
            <a:ext cx="571498" cy="1297935"/>
          </a:xfrm>
          <a:prstGeom prst="bracket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16" name="TextBox 15">
            <a:extLst>
              <a:ext uri="{FF2B5EF4-FFF2-40B4-BE49-F238E27FC236}">
                <a16:creationId xmlns:a16="http://schemas.microsoft.com/office/drawing/2014/main" id="{421CA24C-EB1B-6570-A90E-DD93A184A24A}"/>
              </a:ext>
            </a:extLst>
          </p:cNvPr>
          <p:cNvSpPr txBox="1"/>
          <p:nvPr/>
        </p:nvSpPr>
        <p:spPr>
          <a:xfrm>
            <a:off x="9418540" y="1763003"/>
            <a:ext cx="479618" cy="1287532"/>
          </a:xfrm>
          <a:prstGeom prst="rect">
            <a:avLst/>
          </a:prstGeom>
          <a:noFill/>
        </p:spPr>
        <p:txBody>
          <a:bodyPr wrap="none" rtlCol="0">
            <a:spAutoFit/>
          </a:bodyPr>
          <a:lstStyle/>
          <a:p>
            <a:pPr>
              <a:lnSpc>
                <a:spcPct val="150000"/>
              </a:lnSpc>
            </a:pPr>
            <a:r>
              <a:rPr lang="en-IN" dirty="0" err="1"/>
              <a:t>Ua</a:t>
            </a:r>
            <a:endParaRPr lang="en-IN" dirty="0"/>
          </a:p>
          <a:p>
            <a:pPr>
              <a:lnSpc>
                <a:spcPct val="150000"/>
              </a:lnSpc>
            </a:pPr>
            <a:r>
              <a:rPr lang="en-IN" dirty="0"/>
              <a:t>Ub</a:t>
            </a:r>
          </a:p>
          <a:p>
            <a:pPr>
              <a:lnSpc>
                <a:spcPct val="150000"/>
              </a:lnSpc>
            </a:pPr>
            <a:r>
              <a:rPr lang="en-IN" dirty="0"/>
              <a:t>Uc</a:t>
            </a:r>
          </a:p>
        </p:txBody>
      </p:sp>
      <p:sp>
        <p:nvSpPr>
          <p:cNvPr id="17" name="TextBox 16">
            <a:extLst>
              <a:ext uri="{FF2B5EF4-FFF2-40B4-BE49-F238E27FC236}">
                <a16:creationId xmlns:a16="http://schemas.microsoft.com/office/drawing/2014/main" id="{BB50CC5D-7BF3-2C76-4ED4-511F4AF2791C}"/>
              </a:ext>
            </a:extLst>
          </p:cNvPr>
          <p:cNvSpPr txBox="1"/>
          <p:nvPr/>
        </p:nvSpPr>
        <p:spPr>
          <a:xfrm>
            <a:off x="4658140" y="2888841"/>
            <a:ext cx="5257794" cy="646331"/>
          </a:xfrm>
          <a:prstGeom prst="rect">
            <a:avLst/>
          </a:prstGeom>
          <a:noFill/>
        </p:spPr>
        <p:txBody>
          <a:bodyPr wrap="square" rtlCol="0">
            <a:spAutoFit/>
          </a:bodyPr>
          <a:lstStyle/>
          <a:p>
            <a:r>
              <a:rPr lang="en-IN" dirty="0"/>
              <a:t>V</a:t>
            </a:r>
            <a:r>
              <a:rPr lang="el-GR" dirty="0"/>
              <a:t>α</a:t>
            </a:r>
            <a:r>
              <a:rPr lang="en-IN" dirty="0"/>
              <a:t> = 2/3 ( </a:t>
            </a:r>
            <a:r>
              <a:rPr lang="en-IN" dirty="0" err="1"/>
              <a:t>Ua</a:t>
            </a:r>
            <a:r>
              <a:rPr lang="en-IN" dirty="0"/>
              <a:t> – ½ Ub – ½ Uc )</a:t>
            </a:r>
          </a:p>
          <a:p>
            <a:r>
              <a:rPr lang="en-IN" dirty="0"/>
              <a:t>V</a:t>
            </a:r>
            <a:r>
              <a:rPr lang="el-GR" dirty="0"/>
              <a:t>β</a:t>
            </a:r>
            <a:r>
              <a:rPr lang="en-IN" dirty="0"/>
              <a:t> = 2/3 (√3/2 Ub - √3/2 Uc ) = √3/3 ( Ub – Uc )</a:t>
            </a:r>
          </a:p>
        </p:txBody>
      </p:sp>
      <p:pic>
        <p:nvPicPr>
          <p:cNvPr id="19" name="Picture 18" descr="A diagram of a computer program&#10;&#10;AI-generated content may be incorrect.">
            <a:extLst>
              <a:ext uri="{FF2B5EF4-FFF2-40B4-BE49-F238E27FC236}">
                <a16:creationId xmlns:a16="http://schemas.microsoft.com/office/drawing/2014/main" id="{EE1D08E2-8D32-B25E-2DD6-3094EC99F0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398" y="3739407"/>
            <a:ext cx="5600698" cy="2134870"/>
          </a:xfrm>
          <a:prstGeom prst="rect">
            <a:avLst/>
          </a:prstGeom>
        </p:spPr>
      </p:pic>
      <p:sp>
        <p:nvSpPr>
          <p:cNvPr id="20" name="TextBox 19">
            <a:extLst>
              <a:ext uri="{FF2B5EF4-FFF2-40B4-BE49-F238E27FC236}">
                <a16:creationId xmlns:a16="http://schemas.microsoft.com/office/drawing/2014/main" id="{33DDE028-10FF-E97C-4594-EF82F9161205}"/>
              </a:ext>
            </a:extLst>
          </p:cNvPr>
          <p:cNvSpPr txBox="1"/>
          <p:nvPr/>
        </p:nvSpPr>
        <p:spPr>
          <a:xfrm>
            <a:off x="609599" y="4114800"/>
            <a:ext cx="4832351"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Park Transformation: </a:t>
            </a:r>
            <a:r>
              <a:rPr lang="en-IN" dirty="0">
                <a:latin typeface="Times New Roman" panose="02020603050405020304" pitchFamily="18" charset="0"/>
                <a:cs typeface="Times New Roman" panose="02020603050405020304" pitchFamily="18" charset="0"/>
              </a:rPr>
              <a:t>(</a:t>
            </a:r>
            <a:r>
              <a:rPr lang="el-GR" dirty="0"/>
              <a:t>αβ</a:t>
            </a:r>
            <a:r>
              <a:rPr lang="en-IN" dirty="0"/>
              <a:t> to </a:t>
            </a:r>
            <a:r>
              <a:rPr lang="en-IN" dirty="0" err="1"/>
              <a:t>dq</a:t>
            </a:r>
            <a:r>
              <a:rPr lang="en-IN" dirty="0"/>
              <a:t> )</a:t>
            </a:r>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21" name="Double Bracket 20">
            <a:extLst>
              <a:ext uri="{FF2B5EF4-FFF2-40B4-BE49-F238E27FC236}">
                <a16:creationId xmlns:a16="http://schemas.microsoft.com/office/drawing/2014/main" id="{6C9B1BA4-1FE3-058B-C694-6BCEB579F1BA}"/>
              </a:ext>
            </a:extLst>
          </p:cNvPr>
          <p:cNvSpPr/>
          <p:nvPr/>
        </p:nvSpPr>
        <p:spPr>
          <a:xfrm>
            <a:off x="762000" y="4668520"/>
            <a:ext cx="609600" cy="914400"/>
          </a:xfrm>
          <a:prstGeom prst="bracket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22" name="TextBox 21">
            <a:extLst>
              <a:ext uri="{FF2B5EF4-FFF2-40B4-BE49-F238E27FC236}">
                <a16:creationId xmlns:a16="http://schemas.microsoft.com/office/drawing/2014/main" id="{64E5DD04-AF42-43D0-FBE0-6B312E0BE200}"/>
              </a:ext>
            </a:extLst>
          </p:cNvPr>
          <p:cNvSpPr txBox="1"/>
          <p:nvPr/>
        </p:nvSpPr>
        <p:spPr>
          <a:xfrm>
            <a:off x="805179" y="4668520"/>
            <a:ext cx="609600" cy="784830"/>
          </a:xfrm>
          <a:prstGeom prst="rect">
            <a:avLst/>
          </a:prstGeom>
          <a:noFill/>
        </p:spPr>
        <p:txBody>
          <a:bodyPr wrap="square" rtlCol="0">
            <a:spAutoFit/>
          </a:bodyPr>
          <a:lstStyle/>
          <a:p>
            <a:pPr>
              <a:lnSpc>
                <a:spcPct val="150000"/>
              </a:lnSpc>
            </a:pPr>
            <a:r>
              <a:rPr lang="en-IN" dirty="0" err="1"/>
              <a:t>Vd</a:t>
            </a:r>
            <a:endParaRPr lang="en-IN" dirty="0"/>
          </a:p>
          <a:p>
            <a:r>
              <a:rPr lang="en-IN" dirty="0" err="1"/>
              <a:t>Vq</a:t>
            </a:r>
            <a:endParaRPr lang="en-IN" dirty="0"/>
          </a:p>
        </p:txBody>
      </p:sp>
      <p:sp>
        <p:nvSpPr>
          <p:cNvPr id="23" name="TextBox 22">
            <a:extLst>
              <a:ext uri="{FF2B5EF4-FFF2-40B4-BE49-F238E27FC236}">
                <a16:creationId xmlns:a16="http://schemas.microsoft.com/office/drawing/2014/main" id="{F138E449-E81B-5F9A-A3AB-D201CB3CEEE5}"/>
              </a:ext>
            </a:extLst>
          </p:cNvPr>
          <p:cNvSpPr txBox="1"/>
          <p:nvPr/>
        </p:nvSpPr>
        <p:spPr>
          <a:xfrm>
            <a:off x="1414779" y="4953000"/>
            <a:ext cx="452121" cy="369332"/>
          </a:xfrm>
          <a:prstGeom prst="rect">
            <a:avLst/>
          </a:prstGeom>
          <a:noFill/>
        </p:spPr>
        <p:txBody>
          <a:bodyPr wrap="square" rtlCol="0">
            <a:spAutoFit/>
          </a:bodyPr>
          <a:lstStyle/>
          <a:p>
            <a:r>
              <a:rPr lang="en-IN" dirty="0"/>
              <a:t>=</a:t>
            </a:r>
          </a:p>
        </p:txBody>
      </p:sp>
      <p:sp>
        <p:nvSpPr>
          <p:cNvPr id="24" name="Double Bracket 23">
            <a:extLst>
              <a:ext uri="{FF2B5EF4-FFF2-40B4-BE49-F238E27FC236}">
                <a16:creationId xmlns:a16="http://schemas.microsoft.com/office/drawing/2014/main" id="{37260466-C817-30BD-8D08-315CC9335DE0}"/>
              </a:ext>
            </a:extLst>
          </p:cNvPr>
          <p:cNvSpPr/>
          <p:nvPr/>
        </p:nvSpPr>
        <p:spPr>
          <a:xfrm>
            <a:off x="1845309" y="4663440"/>
            <a:ext cx="1943100" cy="914400"/>
          </a:xfrm>
          <a:prstGeom prst="bracket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25" name="TextBox 24">
            <a:extLst>
              <a:ext uri="{FF2B5EF4-FFF2-40B4-BE49-F238E27FC236}">
                <a16:creationId xmlns:a16="http://schemas.microsoft.com/office/drawing/2014/main" id="{D70864A4-3A19-A50B-EE09-1E5626342055}"/>
              </a:ext>
            </a:extLst>
          </p:cNvPr>
          <p:cNvSpPr txBox="1"/>
          <p:nvPr/>
        </p:nvSpPr>
        <p:spPr>
          <a:xfrm>
            <a:off x="1989454" y="4761131"/>
            <a:ext cx="1676400" cy="646331"/>
          </a:xfrm>
          <a:prstGeom prst="rect">
            <a:avLst/>
          </a:prstGeom>
          <a:noFill/>
        </p:spPr>
        <p:txBody>
          <a:bodyPr wrap="square" rtlCol="0">
            <a:spAutoFit/>
          </a:bodyPr>
          <a:lstStyle/>
          <a:p>
            <a:r>
              <a:rPr lang="en-IN" dirty="0"/>
              <a:t>cos </a:t>
            </a:r>
            <a:r>
              <a:rPr lang="el-GR" dirty="0"/>
              <a:t>θ</a:t>
            </a:r>
            <a:r>
              <a:rPr lang="en-IN" dirty="0"/>
              <a:t>     sin </a:t>
            </a:r>
            <a:r>
              <a:rPr lang="el-GR" dirty="0"/>
              <a:t>θ</a:t>
            </a:r>
            <a:endParaRPr lang="en-IN" dirty="0"/>
          </a:p>
          <a:p>
            <a:r>
              <a:rPr lang="en-IN" dirty="0"/>
              <a:t>-sin </a:t>
            </a:r>
            <a:r>
              <a:rPr lang="el-GR" dirty="0"/>
              <a:t>θ</a:t>
            </a:r>
            <a:r>
              <a:rPr lang="en-IN" dirty="0"/>
              <a:t>     cos </a:t>
            </a:r>
            <a:r>
              <a:rPr lang="el-GR" dirty="0"/>
              <a:t>θ</a:t>
            </a:r>
            <a:endParaRPr lang="en-IN" dirty="0"/>
          </a:p>
        </p:txBody>
      </p:sp>
      <p:sp>
        <p:nvSpPr>
          <p:cNvPr id="26" name="Double Bracket 25">
            <a:extLst>
              <a:ext uri="{FF2B5EF4-FFF2-40B4-BE49-F238E27FC236}">
                <a16:creationId xmlns:a16="http://schemas.microsoft.com/office/drawing/2014/main" id="{6831BA1C-9954-3E57-DC9B-3D3176BD6B31}"/>
              </a:ext>
            </a:extLst>
          </p:cNvPr>
          <p:cNvSpPr/>
          <p:nvPr/>
        </p:nvSpPr>
        <p:spPr>
          <a:xfrm>
            <a:off x="3975733" y="4643119"/>
            <a:ext cx="639444" cy="963245"/>
          </a:xfrm>
          <a:prstGeom prst="bracket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27" name="TextBox 26">
            <a:extLst>
              <a:ext uri="{FF2B5EF4-FFF2-40B4-BE49-F238E27FC236}">
                <a16:creationId xmlns:a16="http://schemas.microsoft.com/office/drawing/2014/main" id="{D5E14D17-0361-47BE-8093-C64AA1A01A19}"/>
              </a:ext>
            </a:extLst>
          </p:cNvPr>
          <p:cNvSpPr txBox="1"/>
          <p:nvPr/>
        </p:nvSpPr>
        <p:spPr>
          <a:xfrm>
            <a:off x="4069496" y="4699000"/>
            <a:ext cx="639444" cy="1061829"/>
          </a:xfrm>
          <a:prstGeom prst="rect">
            <a:avLst/>
          </a:prstGeom>
          <a:noFill/>
        </p:spPr>
        <p:txBody>
          <a:bodyPr wrap="square" rtlCol="0">
            <a:spAutoFit/>
          </a:bodyPr>
          <a:lstStyle/>
          <a:p>
            <a:pPr>
              <a:lnSpc>
                <a:spcPct val="150000"/>
              </a:lnSpc>
            </a:pPr>
            <a:r>
              <a:rPr lang="en-IN" dirty="0"/>
              <a:t>V</a:t>
            </a:r>
            <a:r>
              <a:rPr lang="el-GR" dirty="0"/>
              <a:t>α</a:t>
            </a:r>
            <a:endParaRPr lang="en-IN" dirty="0"/>
          </a:p>
          <a:p>
            <a:r>
              <a:rPr lang="en-IN" dirty="0"/>
              <a:t>V</a:t>
            </a:r>
            <a:r>
              <a:rPr lang="el-GR" dirty="0"/>
              <a:t>β</a:t>
            </a:r>
            <a:endParaRPr lang="en-IN" dirty="0"/>
          </a:p>
          <a:p>
            <a:endParaRPr lang="en-IN" dirty="0"/>
          </a:p>
        </p:txBody>
      </p:sp>
    </p:spTree>
    <p:extLst>
      <p:ext uri="{BB962C8B-B14F-4D97-AF65-F5344CB8AC3E}">
        <p14:creationId xmlns:p14="http://schemas.microsoft.com/office/powerpoint/2010/main" val="3388748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42BC020-4DE8-C9B7-16CE-0892745AB3BD}"/>
              </a:ext>
            </a:extLst>
          </p:cNvPr>
          <p:cNvSpPr txBox="1">
            <a:spLocks noGrp="1"/>
          </p:cNvSpPr>
          <p:nvPr>
            <p:ph type="title"/>
          </p:nvPr>
        </p:nvSpPr>
        <p:spPr>
          <a:xfrm>
            <a:off x="2743200" y="284163"/>
            <a:ext cx="6477000" cy="1120820"/>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lang="en-IN" sz="3600" spc="-10" dirty="0">
                <a:solidFill>
                  <a:schemeClr val="bg1"/>
                </a:solidFill>
              </a:rPr>
              <a:t>Output</a:t>
            </a:r>
            <a:br>
              <a:rPr lang="en-IN" sz="3600" spc="-10" dirty="0">
                <a:solidFill>
                  <a:schemeClr val="bg1"/>
                </a:solidFill>
              </a:rPr>
            </a:br>
            <a:endParaRPr sz="3600" dirty="0">
              <a:solidFill>
                <a:schemeClr val="bg1"/>
              </a:solidFill>
            </a:endParaRPr>
          </a:p>
        </p:txBody>
      </p:sp>
      <p:sp>
        <p:nvSpPr>
          <p:cNvPr id="3" name="TextBox 2">
            <a:extLst>
              <a:ext uri="{FF2B5EF4-FFF2-40B4-BE49-F238E27FC236}">
                <a16:creationId xmlns:a16="http://schemas.microsoft.com/office/drawing/2014/main" id="{91008E41-EB56-8638-28C0-5C0C52D0FD8C}"/>
              </a:ext>
            </a:extLst>
          </p:cNvPr>
          <p:cNvSpPr txBox="1"/>
          <p:nvPr/>
        </p:nvSpPr>
        <p:spPr>
          <a:xfrm>
            <a:off x="5981700" y="5867400"/>
            <a:ext cx="914400" cy="369332"/>
          </a:xfrm>
          <a:prstGeom prst="rect">
            <a:avLst/>
          </a:prstGeom>
          <a:noFill/>
        </p:spPr>
        <p:txBody>
          <a:bodyPr wrap="square" rtlCol="0">
            <a:spAutoFit/>
          </a:bodyPr>
          <a:lstStyle/>
          <a:p>
            <a:r>
              <a:rPr lang="en-IN" dirty="0"/>
              <a:t>11</a:t>
            </a:r>
          </a:p>
        </p:txBody>
      </p:sp>
      <p:sp>
        <p:nvSpPr>
          <p:cNvPr id="8" name="TextBox 7">
            <a:extLst>
              <a:ext uri="{FF2B5EF4-FFF2-40B4-BE49-F238E27FC236}">
                <a16:creationId xmlns:a16="http://schemas.microsoft.com/office/drawing/2014/main" id="{4DC58ECA-306C-9732-7A60-42B546ABA944}"/>
              </a:ext>
            </a:extLst>
          </p:cNvPr>
          <p:cNvSpPr txBox="1"/>
          <p:nvPr/>
        </p:nvSpPr>
        <p:spPr>
          <a:xfrm>
            <a:off x="5029200" y="1371600"/>
            <a:ext cx="6400800"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Voltage regulation graph:</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Constant DC voltage → constant power to motor → stable speed.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ripple was high, the motor would experience torque pulsations → poor speed regulation.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keeps motor speed constant under load changes (good speed regulation).</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3DC1316-B85C-F073-647F-9C624CAC96DC}"/>
              </a:ext>
            </a:extLst>
          </p:cNvPr>
          <p:cNvSpPr txBox="1"/>
          <p:nvPr/>
        </p:nvSpPr>
        <p:spPr>
          <a:xfrm>
            <a:off x="5024176" y="3380316"/>
            <a:ext cx="64770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Capacitor voltages U1 and U2 are well balanced (~300 V each)</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Balanced capacitors = symmetrical switching → reduced current distortion → near-sinusoidal input current.</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Reduced harmonic losses</a:t>
            </a:r>
          </a:p>
        </p:txBody>
      </p:sp>
      <p:sp>
        <p:nvSpPr>
          <p:cNvPr id="10" name="AutoShape 2" descr="Output image">
            <a:extLst>
              <a:ext uri="{FF2B5EF4-FFF2-40B4-BE49-F238E27FC236}">
                <a16:creationId xmlns:a16="http://schemas.microsoft.com/office/drawing/2014/main" id="{B608C25D-22EA-BCEE-4A79-8F7A2399271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descr="A screen shot of a graph&#10;&#10;AI-generated content may be incorrect.">
            <a:extLst>
              <a:ext uri="{FF2B5EF4-FFF2-40B4-BE49-F238E27FC236}">
                <a16:creationId xmlns:a16="http://schemas.microsoft.com/office/drawing/2014/main" id="{280B91DD-D853-E2D9-0B03-FE21A963EA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676400"/>
            <a:ext cx="4446494" cy="2514600"/>
          </a:xfrm>
          <a:prstGeom prst="rect">
            <a:avLst/>
          </a:prstGeom>
        </p:spPr>
      </p:pic>
    </p:spTree>
    <p:extLst>
      <p:ext uri="{BB962C8B-B14F-4D97-AF65-F5344CB8AC3E}">
        <p14:creationId xmlns:p14="http://schemas.microsoft.com/office/powerpoint/2010/main" val="3829633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E26A2-DBDC-217D-99EA-E82471C5A8E5}"/>
              </a:ext>
            </a:extLst>
          </p:cNvPr>
          <p:cNvSpPr>
            <a:spLocks noGrp="1"/>
          </p:cNvSpPr>
          <p:nvPr>
            <p:ph type="title"/>
          </p:nvPr>
        </p:nvSpPr>
        <p:spPr>
          <a:xfrm>
            <a:off x="4309745" y="220285"/>
            <a:ext cx="3343910" cy="492443"/>
          </a:xfrm>
        </p:spPr>
        <p:txBody>
          <a:bodyPr/>
          <a:lstStyle/>
          <a:p>
            <a:r>
              <a:rPr lang="en-US" sz="3200" dirty="0">
                <a:solidFill>
                  <a:schemeClr val="bg1"/>
                </a:solidFill>
              </a:rPr>
              <a:t>Output Graph</a:t>
            </a:r>
            <a:endParaRPr lang="en-IN" sz="3200" dirty="0">
              <a:solidFill>
                <a:schemeClr val="bg1"/>
              </a:solidFill>
            </a:endParaRPr>
          </a:p>
        </p:txBody>
      </p:sp>
      <p:sp>
        <p:nvSpPr>
          <p:cNvPr id="3" name="Text Placeholder 2">
            <a:extLst>
              <a:ext uri="{FF2B5EF4-FFF2-40B4-BE49-F238E27FC236}">
                <a16:creationId xmlns:a16="http://schemas.microsoft.com/office/drawing/2014/main" id="{1DB8DF3A-BC1C-F321-AC1D-978A8DEE016F}"/>
              </a:ext>
            </a:extLst>
          </p:cNvPr>
          <p:cNvSpPr>
            <a:spLocks noGrp="1"/>
          </p:cNvSpPr>
          <p:nvPr>
            <p:ph type="body" idx="1"/>
          </p:nvPr>
        </p:nvSpPr>
        <p:spPr>
          <a:xfrm>
            <a:off x="3124200" y="2590800"/>
            <a:ext cx="4237567" cy="369332"/>
          </a:xfrm>
        </p:spPr>
        <p:txBody>
          <a:bodyPr/>
          <a:lstStyle/>
          <a:p>
            <a:endParaRPr lang="en-IN" dirty="0"/>
          </a:p>
        </p:txBody>
      </p:sp>
      <p:sp>
        <p:nvSpPr>
          <p:cNvPr id="6" name="TextBox 5">
            <a:extLst>
              <a:ext uri="{FF2B5EF4-FFF2-40B4-BE49-F238E27FC236}">
                <a16:creationId xmlns:a16="http://schemas.microsoft.com/office/drawing/2014/main" id="{90419193-7537-E487-02F5-FE2E3D18757D}"/>
              </a:ext>
            </a:extLst>
          </p:cNvPr>
          <p:cNvSpPr txBox="1"/>
          <p:nvPr/>
        </p:nvSpPr>
        <p:spPr>
          <a:xfrm>
            <a:off x="370840" y="4875946"/>
            <a:ext cx="1905000"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Result:</a:t>
            </a:r>
          </a:p>
        </p:txBody>
      </p:sp>
      <p:sp>
        <p:nvSpPr>
          <p:cNvPr id="7" name="TextBox 6">
            <a:extLst>
              <a:ext uri="{FF2B5EF4-FFF2-40B4-BE49-F238E27FC236}">
                <a16:creationId xmlns:a16="http://schemas.microsoft.com/office/drawing/2014/main" id="{E26510F5-9093-4B90-3B54-B64EF2C6C65A}"/>
              </a:ext>
            </a:extLst>
          </p:cNvPr>
          <p:cNvSpPr txBox="1"/>
          <p:nvPr/>
        </p:nvSpPr>
        <p:spPr>
          <a:xfrm>
            <a:off x="370840" y="5337909"/>
            <a:ext cx="10668000" cy="646331"/>
          </a:xfrm>
          <a:prstGeom prst="rect">
            <a:avLst/>
          </a:prstGeom>
          <a:noFill/>
        </p:spPr>
        <p:txBody>
          <a:bodyPr wrap="square" rtlCol="0">
            <a:spAutoFit/>
          </a:bodyPr>
          <a:lstStyle/>
          <a:p>
            <a:r>
              <a:rPr lang="en-IN" dirty="0"/>
              <a:t>The manually calculated efficiency validates the simulation results, showing a maximum efficiency of 98% for the proposed Vienna rectifier with power factor correction.</a:t>
            </a:r>
          </a:p>
        </p:txBody>
      </p:sp>
      <p:sp>
        <p:nvSpPr>
          <p:cNvPr id="8" name="TextBox 7">
            <a:extLst>
              <a:ext uri="{FF2B5EF4-FFF2-40B4-BE49-F238E27FC236}">
                <a16:creationId xmlns:a16="http://schemas.microsoft.com/office/drawing/2014/main" id="{46D64D7F-5531-864F-E7E4-0B88FA87AFA7}"/>
              </a:ext>
            </a:extLst>
          </p:cNvPr>
          <p:cNvSpPr txBox="1"/>
          <p:nvPr/>
        </p:nvSpPr>
        <p:spPr>
          <a:xfrm>
            <a:off x="5715000" y="6019800"/>
            <a:ext cx="533400" cy="371693"/>
          </a:xfrm>
          <a:prstGeom prst="rect">
            <a:avLst/>
          </a:prstGeom>
          <a:noFill/>
        </p:spPr>
        <p:txBody>
          <a:bodyPr wrap="square" rtlCol="0">
            <a:spAutoFit/>
          </a:bodyPr>
          <a:lstStyle/>
          <a:p>
            <a:r>
              <a:rPr lang="en-IN" dirty="0"/>
              <a:t>12</a:t>
            </a:r>
          </a:p>
        </p:txBody>
      </p:sp>
      <p:pic>
        <p:nvPicPr>
          <p:cNvPr id="9" name="Picture 8" descr="A screenshot of a computer&#10;&#10;AI-generated content may be incorrect.">
            <a:extLst>
              <a:ext uri="{FF2B5EF4-FFF2-40B4-BE49-F238E27FC236}">
                <a16:creationId xmlns:a16="http://schemas.microsoft.com/office/drawing/2014/main" id="{F9CEA03B-B117-6E90-2BDE-CF699E7621DC}"/>
              </a:ext>
            </a:extLst>
          </p:cNvPr>
          <p:cNvPicPr>
            <a:picLocks noChangeAspect="1"/>
          </p:cNvPicPr>
          <p:nvPr/>
        </p:nvPicPr>
        <p:blipFill>
          <a:blip r:embed="rId2">
            <a:extLst>
              <a:ext uri="{28A0092B-C50C-407E-A947-70E740481C1C}">
                <a14:useLocalDpi xmlns:a14="http://schemas.microsoft.com/office/drawing/2010/main" val="0"/>
              </a:ext>
            </a:extLst>
          </a:blip>
          <a:srcRect t="8829"/>
          <a:stretch>
            <a:fillRect/>
          </a:stretch>
        </p:blipFill>
        <p:spPr>
          <a:xfrm>
            <a:off x="1929448" y="1131520"/>
            <a:ext cx="8361886" cy="4050079"/>
          </a:xfrm>
          <a:prstGeom prst="rect">
            <a:avLst/>
          </a:prstGeom>
        </p:spPr>
      </p:pic>
    </p:spTree>
    <p:extLst>
      <p:ext uri="{BB962C8B-B14F-4D97-AF65-F5344CB8AC3E}">
        <p14:creationId xmlns:p14="http://schemas.microsoft.com/office/powerpoint/2010/main" val="1606513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726D6-47D9-15E0-8503-0226D584414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AB4F6A-ACBB-21A3-E869-3F71AA4EE37D}"/>
              </a:ext>
            </a:extLst>
          </p:cNvPr>
          <p:cNvSpPr txBox="1">
            <a:spLocks noGrp="1"/>
          </p:cNvSpPr>
          <p:nvPr>
            <p:ph type="title"/>
          </p:nvPr>
        </p:nvSpPr>
        <p:spPr>
          <a:xfrm>
            <a:off x="2743200" y="284163"/>
            <a:ext cx="6477000" cy="566822"/>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lang="en-IN" sz="3600" spc="-10" dirty="0">
                <a:solidFill>
                  <a:schemeClr val="bg1"/>
                </a:solidFill>
              </a:rPr>
              <a:t>Why Vienna?</a:t>
            </a:r>
            <a:endParaRPr sz="3600" dirty="0">
              <a:solidFill>
                <a:schemeClr val="bg1"/>
              </a:solidFill>
            </a:endParaRPr>
          </a:p>
        </p:txBody>
      </p:sp>
      <p:sp>
        <p:nvSpPr>
          <p:cNvPr id="3" name="TextBox 2">
            <a:extLst>
              <a:ext uri="{FF2B5EF4-FFF2-40B4-BE49-F238E27FC236}">
                <a16:creationId xmlns:a16="http://schemas.microsoft.com/office/drawing/2014/main" id="{926F398E-E79E-489A-47B9-5DD8E44473DB}"/>
              </a:ext>
            </a:extLst>
          </p:cNvPr>
          <p:cNvSpPr txBox="1"/>
          <p:nvPr/>
        </p:nvSpPr>
        <p:spPr>
          <a:xfrm>
            <a:off x="5981700" y="5867400"/>
            <a:ext cx="914400" cy="369332"/>
          </a:xfrm>
          <a:prstGeom prst="rect">
            <a:avLst/>
          </a:prstGeom>
          <a:noFill/>
        </p:spPr>
        <p:txBody>
          <a:bodyPr wrap="square" rtlCol="0">
            <a:spAutoFit/>
          </a:bodyPr>
          <a:lstStyle/>
          <a:p>
            <a:r>
              <a:rPr lang="en-IN" dirty="0"/>
              <a:t>13</a:t>
            </a:r>
          </a:p>
        </p:txBody>
      </p:sp>
      <p:sp>
        <p:nvSpPr>
          <p:cNvPr id="8" name="TextBox 7">
            <a:extLst>
              <a:ext uri="{FF2B5EF4-FFF2-40B4-BE49-F238E27FC236}">
                <a16:creationId xmlns:a16="http://schemas.microsoft.com/office/drawing/2014/main" id="{340EC311-EC9F-C9FF-657F-75AFF82C6A5D}"/>
              </a:ext>
            </a:extLst>
          </p:cNvPr>
          <p:cNvSpPr txBox="1"/>
          <p:nvPr/>
        </p:nvSpPr>
        <p:spPr>
          <a:xfrm>
            <a:off x="495300" y="1278657"/>
            <a:ext cx="110871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It’s a three-phase, three-level, boost-type PWM rectifier.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only 3 MOSFETs (one per phase) and 6 diodes, unlike other active rectifiers that need 6 MOSFETs or IGBTs.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Designed mainly for power factor correction (PFC) and DC-link voltage regulation in telecom, aerospace, EV chargers, and industrial loads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 Power Quality, High Efficiency, Three-Level DC Output, Balancing of DC-link capacitors.</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48A8EB50-A9AE-08F7-EEBE-DDC86CD58DAF}"/>
              </a:ext>
            </a:extLst>
          </p:cNvPr>
          <p:cNvGraphicFramePr>
            <a:graphicFrameLocks noGrp="1"/>
          </p:cNvGraphicFramePr>
          <p:nvPr>
            <p:extLst>
              <p:ext uri="{D42A27DB-BD31-4B8C-83A1-F6EECF244321}">
                <p14:modId xmlns:p14="http://schemas.microsoft.com/office/powerpoint/2010/main" val="3134124435"/>
              </p:ext>
            </p:extLst>
          </p:nvPr>
        </p:nvGraphicFramePr>
        <p:xfrm>
          <a:off x="482740" y="2861212"/>
          <a:ext cx="7543800" cy="3006188"/>
        </p:xfrm>
        <a:graphic>
          <a:graphicData uri="http://schemas.openxmlformats.org/drawingml/2006/table">
            <a:tbl>
              <a:tblPr>
                <a:tableStyleId>{284E427A-3D55-4303-BF80-6455036E1DE7}</a:tableStyleId>
              </a:tblPr>
              <a:tblGrid>
                <a:gridCol w="1885950">
                  <a:extLst>
                    <a:ext uri="{9D8B030D-6E8A-4147-A177-3AD203B41FA5}">
                      <a16:colId xmlns:a16="http://schemas.microsoft.com/office/drawing/2014/main" val="2790271336"/>
                    </a:ext>
                  </a:extLst>
                </a:gridCol>
                <a:gridCol w="1885950">
                  <a:extLst>
                    <a:ext uri="{9D8B030D-6E8A-4147-A177-3AD203B41FA5}">
                      <a16:colId xmlns:a16="http://schemas.microsoft.com/office/drawing/2014/main" val="3221682396"/>
                    </a:ext>
                  </a:extLst>
                </a:gridCol>
                <a:gridCol w="1885950">
                  <a:extLst>
                    <a:ext uri="{9D8B030D-6E8A-4147-A177-3AD203B41FA5}">
                      <a16:colId xmlns:a16="http://schemas.microsoft.com/office/drawing/2014/main" val="3171901499"/>
                    </a:ext>
                  </a:extLst>
                </a:gridCol>
                <a:gridCol w="1885950">
                  <a:extLst>
                    <a:ext uri="{9D8B030D-6E8A-4147-A177-3AD203B41FA5}">
                      <a16:colId xmlns:a16="http://schemas.microsoft.com/office/drawing/2014/main" val="1611649964"/>
                    </a:ext>
                  </a:extLst>
                </a:gridCol>
              </a:tblGrid>
              <a:tr h="323334">
                <a:tc>
                  <a:txBody>
                    <a:bodyPr/>
                    <a:lstStyle/>
                    <a:p>
                      <a:pPr>
                        <a:buNone/>
                      </a:pPr>
                      <a:r>
                        <a:rPr lang="en-IN" sz="1600"/>
                        <a:t>Feature</a:t>
                      </a:r>
                    </a:p>
                  </a:txBody>
                  <a:tcPr marL="11445" marR="11445" marT="5722" marB="5722" anchor="ctr"/>
                </a:tc>
                <a:tc>
                  <a:txBody>
                    <a:bodyPr/>
                    <a:lstStyle/>
                    <a:p>
                      <a:pPr>
                        <a:buNone/>
                      </a:pPr>
                      <a:r>
                        <a:rPr lang="en-IN" sz="1600"/>
                        <a:t>Diode Bridge Rectifier</a:t>
                      </a:r>
                    </a:p>
                  </a:txBody>
                  <a:tcPr marL="11445" marR="11445" marT="5722" marB="5722" anchor="ctr"/>
                </a:tc>
                <a:tc>
                  <a:txBody>
                    <a:bodyPr/>
                    <a:lstStyle/>
                    <a:p>
                      <a:pPr>
                        <a:buNone/>
                      </a:pPr>
                      <a:r>
                        <a:rPr lang="en-IN" sz="1600"/>
                        <a:t>6-Switch Active Rectifier (VSI)</a:t>
                      </a:r>
                    </a:p>
                  </a:txBody>
                  <a:tcPr marL="11445" marR="11445" marT="5722" marB="5722" anchor="ctr"/>
                </a:tc>
                <a:tc>
                  <a:txBody>
                    <a:bodyPr/>
                    <a:lstStyle/>
                    <a:p>
                      <a:pPr>
                        <a:buNone/>
                      </a:pPr>
                      <a:r>
                        <a:rPr lang="en-IN" sz="1600" b="1"/>
                        <a:t>Vienna Rectifier</a:t>
                      </a:r>
                      <a:endParaRPr lang="en-IN" sz="1600"/>
                    </a:p>
                  </a:txBody>
                  <a:tcPr marL="11445" marR="11445" marT="5722" marB="5722" anchor="ctr"/>
                </a:tc>
                <a:extLst>
                  <a:ext uri="{0D108BD9-81ED-4DB2-BD59-A6C34878D82A}">
                    <a16:rowId xmlns:a16="http://schemas.microsoft.com/office/drawing/2014/main" val="1236429441"/>
                  </a:ext>
                </a:extLst>
              </a:tr>
              <a:tr h="323334">
                <a:tc>
                  <a:txBody>
                    <a:bodyPr/>
                    <a:lstStyle/>
                    <a:p>
                      <a:pPr>
                        <a:buNone/>
                      </a:pPr>
                      <a:r>
                        <a:rPr lang="en-IN" sz="1600"/>
                        <a:t>Components</a:t>
                      </a:r>
                    </a:p>
                  </a:txBody>
                  <a:tcPr marL="11445" marR="11445" marT="5722" marB="5722" anchor="ctr"/>
                </a:tc>
                <a:tc>
                  <a:txBody>
                    <a:bodyPr/>
                    <a:lstStyle/>
                    <a:p>
                      <a:pPr>
                        <a:buNone/>
                      </a:pPr>
                      <a:r>
                        <a:rPr lang="en-IN" sz="1600" dirty="0"/>
                        <a:t>6 diodes only</a:t>
                      </a:r>
                    </a:p>
                  </a:txBody>
                  <a:tcPr marL="11445" marR="11445" marT="5722" marB="5722" anchor="ctr"/>
                </a:tc>
                <a:tc>
                  <a:txBody>
                    <a:bodyPr/>
                    <a:lstStyle/>
                    <a:p>
                      <a:pPr>
                        <a:buNone/>
                      </a:pPr>
                      <a:r>
                        <a:rPr lang="fr-FR" sz="1600"/>
                        <a:t>6 IGBTs/MOSFETs + 6 diodes</a:t>
                      </a:r>
                    </a:p>
                  </a:txBody>
                  <a:tcPr marL="11445" marR="11445" marT="5722" marB="5722" anchor="ctr"/>
                </a:tc>
                <a:tc>
                  <a:txBody>
                    <a:bodyPr/>
                    <a:lstStyle/>
                    <a:p>
                      <a:pPr>
                        <a:buNone/>
                      </a:pPr>
                      <a:r>
                        <a:rPr lang="en-IN" sz="1600"/>
                        <a:t>3 MOSFETs + 6 diodes</a:t>
                      </a:r>
                    </a:p>
                  </a:txBody>
                  <a:tcPr marL="11445" marR="11445" marT="5722" marB="5722" anchor="ctr"/>
                </a:tc>
                <a:extLst>
                  <a:ext uri="{0D108BD9-81ED-4DB2-BD59-A6C34878D82A}">
                    <a16:rowId xmlns:a16="http://schemas.microsoft.com/office/drawing/2014/main" val="648565194"/>
                  </a:ext>
                </a:extLst>
              </a:tr>
              <a:tr h="184762">
                <a:tc>
                  <a:txBody>
                    <a:bodyPr/>
                    <a:lstStyle/>
                    <a:p>
                      <a:pPr>
                        <a:buNone/>
                      </a:pPr>
                      <a:r>
                        <a:rPr lang="en-IN" sz="1600"/>
                        <a:t>Power Factor</a:t>
                      </a:r>
                    </a:p>
                  </a:txBody>
                  <a:tcPr marL="11445" marR="11445" marT="5722" marB="5722" anchor="ctr"/>
                </a:tc>
                <a:tc>
                  <a:txBody>
                    <a:bodyPr/>
                    <a:lstStyle/>
                    <a:p>
                      <a:pPr>
                        <a:buNone/>
                      </a:pPr>
                      <a:r>
                        <a:rPr lang="en-IN" sz="1600" dirty="0"/>
                        <a:t>Low (≈0.6–0)</a:t>
                      </a:r>
                    </a:p>
                  </a:txBody>
                  <a:tcPr marL="11445" marR="11445" marT="5722" marB="5722" anchor="ctr"/>
                </a:tc>
                <a:tc>
                  <a:txBody>
                    <a:bodyPr/>
                    <a:lstStyle/>
                    <a:p>
                      <a:pPr>
                        <a:buNone/>
                      </a:pPr>
                      <a:r>
                        <a:rPr lang="en-IN" sz="1600"/>
                        <a:t>Near unity (≈0.99)</a:t>
                      </a:r>
                    </a:p>
                  </a:txBody>
                  <a:tcPr marL="11445" marR="11445" marT="5722" marB="5722" anchor="ctr"/>
                </a:tc>
                <a:tc>
                  <a:txBody>
                    <a:bodyPr/>
                    <a:lstStyle/>
                    <a:p>
                      <a:pPr>
                        <a:buNone/>
                      </a:pPr>
                      <a:r>
                        <a:rPr lang="en-IN" sz="1600"/>
                        <a:t>Near unity (≈0.99)</a:t>
                      </a:r>
                    </a:p>
                  </a:txBody>
                  <a:tcPr marL="11445" marR="11445" marT="5722" marB="5722" anchor="ctr"/>
                </a:tc>
                <a:extLst>
                  <a:ext uri="{0D108BD9-81ED-4DB2-BD59-A6C34878D82A}">
                    <a16:rowId xmlns:a16="http://schemas.microsoft.com/office/drawing/2014/main" val="1414845552"/>
                  </a:ext>
                </a:extLst>
              </a:tr>
              <a:tr h="184762">
                <a:tc>
                  <a:txBody>
                    <a:bodyPr/>
                    <a:lstStyle/>
                    <a:p>
                      <a:pPr>
                        <a:buNone/>
                      </a:pPr>
                      <a:r>
                        <a:rPr lang="en-IN" sz="1600"/>
                        <a:t>Harmonics</a:t>
                      </a:r>
                    </a:p>
                  </a:txBody>
                  <a:tcPr marL="11445" marR="11445" marT="5722" marB="5722" anchor="ctr"/>
                </a:tc>
                <a:tc>
                  <a:txBody>
                    <a:bodyPr/>
                    <a:lstStyle/>
                    <a:p>
                      <a:pPr>
                        <a:buNone/>
                      </a:pPr>
                      <a:r>
                        <a:rPr lang="en-IN" sz="1600"/>
                        <a:t>High THD</a:t>
                      </a:r>
                    </a:p>
                  </a:txBody>
                  <a:tcPr marL="11445" marR="11445" marT="5722" marB="5722" anchor="ctr"/>
                </a:tc>
                <a:tc>
                  <a:txBody>
                    <a:bodyPr/>
                    <a:lstStyle/>
                    <a:p>
                      <a:pPr>
                        <a:buNone/>
                      </a:pPr>
                      <a:r>
                        <a:rPr lang="en-IN" sz="1600"/>
                        <a:t>Low THD</a:t>
                      </a:r>
                    </a:p>
                  </a:txBody>
                  <a:tcPr marL="11445" marR="11445" marT="5722" marB="5722" anchor="ctr"/>
                </a:tc>
                <a:tc>
                  <a:txBody>
                    <a:bodyPr/>
                    <a:lstStyle/>
                    <a:p>
                      <a:pPr>
                        <a:buNone/>
                      </a:pPr>
                      <a:r>
                        <a:rPr lang="en-IN" sz="1600"/>
                        <a:t>Low THD</a:t>
                      </a:r>
                    </a:p>
                  </a:txBody>
                  <a:tcPr marL="11445" marR="11445" marT="5722" marB="5722" anchor="ctr"/>
                </a:tc>
                <a:extLst>
                  <a:ext uri="{0D108BD9-81ED-4DB2-BD59-A6C34878D82A}">
                    <a16:rowId xmlns:a16="http://schemas.microsoft.com/office/drawing/2014/main" val="2000805716"/>
                  </a:ext>
                </a:extLst>
              </a:tr>
              <a:tr h="323334">
                <a:tc>
                  <a:txBody>
                    <a:bodyPr/>
                    <a:lstStyle/>
                    <a:p>
                      <a:pPr>
                        <a:buNone/>
                      </a:pPr>
                      <a:r>
                        <a:rPr lang="en-IN" sz="1600"/>
                        <a:t>Control Complexity</a:t>
                      </a:r>
                    </a:p>
                  </a:txBody>
                  <a:tcPr marL="11445" marR="11445" marT="5722" marB="5722" anchor="ctr"/>
                </a:tc>
                <a:tc>
                  <a:txBody>
                    <a:bodyPr/>
                    <a:lstStyle/>
                    <a:p>
                      <a:pPr>
                        <a:buNone/>
                      </a:pPr>
                      <a:r>
                        <a:rPr lang="en-IN" sz="1600"/>
                        <a:t>None</a:t>
                      </a:r>
                    </a:p>
                  </a:txBody>
                  <a:tcPr marL="11445" marR="11445" marT="5722" marB="5722" anchor="ctr"/>
                </a:tc>
                <a:tc>
                  <a:txBody>
                    <a:bodyPr/>
                    <a:lstStyle/>
                    <a:p>
                      <a:pPr>
                        <a:buNone/>
                      </a:pPr>
                      <a:r>
                        <a:rPr lang="en-US" sz="1600" dirty="0"/>
                        <a:t>High (PWM for 6 switches)</a:t>
                      </a:r>
                    </a:p>
                  </a:txBody>
                  <a:tcPr marL="11445" marR="11445" marT="5722" marB="5722" anchor="ctr"/>
                </a:tc>
                <a:tc>
                  <a:txBody>
                    <a:bodyPr/>
                    <a:lstStyle/>
                    <a:p>
                      <a:pPr>
                        <a:buNone/>
                      </a:pPr>
                      <a:r>
                        <a:rPr lang="en-IN" sz="1600"/>
                        <a:t>Medium (PWM for 3 switches)</a:t>
                      </a:r>
                    </a:p>
                  </a:txBody>
                  <a:tcPr marL="11445" marR="11445" marT="5722" marB="5722" anchor="ctr"/>
                </a:tc>
                <a:extLst>
                  <a:ext uri="{0D108BD9-81ED-4DB2-BD59-A6C34878D82A}">
                    <a16:rowId xmlns:a16="http://schemas.microsoft.com/office/drawing/2014/main" val="2161658716"/>
                  </a:ext>
                </a:extLst>
              </a:tr>
              <a:tr h="323334">
                <a:tc>
                  <a:txBody>
                    <a:bodyPr/>
                    <a:lstStyle/>
                    <a:p>
                      <a:pPr>
                        <a:buNone/>
                      </a:pPr>
                      <a:r>
                        <a:rPr lang="en-IN" sz="1600"/>
                        <a:t>Efficiency</a:t>
                      </a:r>
                    </a:p>
                  </a:txBody>
                  <a:tcPr marL="11445" marR="11445" marT="5722" marB="5722" anchor="ctr"/>
                </a:tc>
                <a:tc>
                  <a:txBody>
                    <a:bodyPr/>
                    <a:lstStyle/>
                    <a:p>
                      <a:pPr>
                        <a:buNone/>
                      </a:pPr>
                      <a:r>
                        <a:rPr lang="en-IN" sz="1600"/>
                        <a:t>Medium</a:t>
                      </a:r>
                    </a:p>
                  </a:txBody>
                  <a:tcPr marL="11445" marR="11445" marT="5722" marB="5722" anchor="ctr"/>
                </a:tc>
                <a:tc>
                  <a:txBody>
                    <a:bodyPr/>
                    <a:lstStyle/>
                    <a:p>
                      <a:pPr>
                        <a:buNone/>
                      </a:pPr>
                      <a:r>
                        <a:rPr lang="en-IN" sz="1600"/>
                        <a:t>Lower (more switches → losses)</a:t>
                      </a:r>
                    </a:p>
                  </a:txBody>
                  <a:tcPr marL="11445" marR="11445" marT="5722" marB="5722" anchor="ctr"/>
                </a:tc>
                <a:tc>
                  <a:txBody>
                    <a:bodyPr/>
                    <a:lstStyle/>
                    <a:p>
                      <a:pPr>
                        <a:buNone/>
                      </a:pPr>
                      <a:r>
                        <a:rPr lang="en-IN" sz="1600"/>
                        <a:t>Higher (fewer active switches)</a:t>
                      </a:r>
                    </a:p>
                  </a:txBody>
                  <a:tcPr marL="11445" marR="11445" marT="5722" marB="5722" anchor="ctr"/>
                </a:tc>
                <a:extLst>
                  <a:ext uri="{0D108BD9-81ED-4DB2-BD59-A6C34878D82A}">
                    <a16:rowId xmlns:a16="http://schemas.microsoft.com/office/drawing/2014/main" val="749828991"/>
                  </a:ext>
                </a:extLst>
              </a:tr>
              <a:tr h="323334">
                <a:tc>
                  <a:txBody>
                    <a:bodyPr/>
                    <a:lstStyle/>
                    <a:p>
                      <a:pPr>
                        <a:buNone/>
                      </a:pPr>
                      <a:r>
                        <a:rPr lang="en-IN" sz="1600"/>
                        <a:t>DC Bus</a:t>
                      </a:r>
                    </a:p>
                  </a:txBody>
                  <a:tcPr marL="11445" marR="11445" marT="5722" marB="5722" anchor="ctr"/>
                </a:tc>
                <a:tc>
                  <a:txBody>
                    <a:bodyPr/>
                    <a:lstStyle/>
                    <a:p>
                      <a:pPr>
                        <a:buNone/>
                      </a:pPr>
                      <a:r>
                        <a:rPr lang="en-IN" sz="1600"/>
                        <a:t>2-level</a:t>
                      </a:r>
                    </a:p>
                  </a:txBody>
                  <a:tcPr marL="11445" marR="11445" marT="5722" marB="5722" anchor="ctr"/>
                </a:tc>
                <a:tc>
                  <a:txBody>
                    <a:bodyPr/>
                    <a:lstStyle/>
                    <a:p>
                      <a:pPr>
                        <a:buNone/>
                      </a:pPr>
                      <a:r>
                        <a:rPr lang="en-IN" sz="1600"/>
                        <a:t>2-level</a:t>
                      </a:r>
                    </a:p>
                  </a:txBody>
                  <a:tcPr marL="11445" marR="11445" marT="5722" marB="5722" anchor="ctr"/>
                </a:tc>
                <a:tc>
                  <a:txBody>
                    <a:bodyPr/>
                    <a:lstStyle/>
                    <a:p>
                      <a:pPr>
                        <a:buNone/>
                      </a:pPr>
                      <a:r>
                        <a:rPr lang="en-US" sz="1600" b="0" dirty="0"/>
                        <a:t>3-level (lower stress on parts)</a:t>
                      </a:r>
                    </a:p>
                  </a:txBody>
                  <a:tcPr marL="11445" marR="11445" marT="5722" marB="5722" anchor="ctr"/>
                </a:tc>
                <a:extLst>
                  <a:ext uri="{0D108BD9-81ED-4DB2-BD59-A6C34878D82A}">
                    <a16:rowId xmlns:a16="http://schemas.microsoft.com/office/drawing/2014/main" val="4131968545"/>
                  </a:ext>
                </a:extLst>
              </a:tr>
            </a:tbl>
          </a:graphicData>
        </a:graphic>
      </p:graphicFrame>
      <p:sp>
        <p:nvSpPr>
          <p:cNvPr id="13" name="TextBox 12">
            <a:extLst>
              <a:ext uri="{FF2B5EF4-FFF2-40B4-BE49-F238E27FC236}">
                <a16:creationId xmlns:a16="http://schemas.microsoft.com/office/drawing/2014/main" id="{32D905F7-E831-50D5-F148-A64F3C096F1A}"/>
              </a:ext>
            </a:extLst>
          </p:cNvPr>
          <p:cNvSpPr txBox="1"/>
          <p:nvPr/>
        </p:nvSpPr>
        <p:spPr>
          <a:xfrm>
            <a:off x="8217040" y="2861212"/>
            <a:ext cx="3479660" cy="233910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Disadvantages:</a:t>
            </a:r>
          </a:p>
          <a:p>
            <a:r>
              <a:rPr lang="en-IN" dirty="0">
                <a:latin typeface="Times New Roman" panose="02020603050405020304" pitchFamily="18" charset="0"/>
                <a:cs typeface="Times New Roman" panose="02020603050405020304" pitchFamily="18" charset="0"/>
              </a:rPr>
              <a:t>Unidirectional power flow → can’t send power back to the grid (unlike full active rectifiers).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Capacitor voltage balancing is tricky → needs extra control algorithm.</a:t>
            </a:r>
            <a:br>
              <a:rPr lang="en-IN"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1867247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46143-3723-7975-EF8D-E9DB52BAB17E}"/>
              </a:ext>
            </a:extLst>
          </p:cNvPr>
          <p:cNvSpPr>
            <a:spLocks noGrp="1"/>
          </p:cNvSpPr>
          <p:nvPr>
            <p:ph type="title"/>
          </p:nvPr>
        </p:nvSpPr>
        <p:spPr>
          <a:xfrm>
            <a:off x="3564255" y="228600"/>
            <a:ext cx="5063489" cy="553998"/>
          </a:xfrm>
        </p:spPr>
        <p:txBody>
          <a:bodyPr/>
          <a:lstStyle/>
          <a:p>
            <a:r>
              <a:rPr lang="en-IN" sz="3600" dirty="0">
                <a:solidFill>
                  <a:schemeClr val="bg1"/>
                </a:solidFill>
              </a:rPr>
              <a:t>Active Participation</a:t>
            </a:r>
          </a:p>
        </p:txBody>
      </p:sp>
      <p:sp>
        <p:nvSpPr>
          <p:cNvPr id="3" name="Text Placeholder 2">
            <a:extLst>
              <a:ext uri="{FF2B5EF4-FFF2-40B4-BE49-F238E27FC236}">
                <a16:creationId xmlns:a16="http://schemas.microsoft.com/office/drawing/2014/main" id="{3DA247C6-0E4F-426F-274C-B3C8C13B9A35}"/>
              </a:ext>
            </a:extLst>
          </p:cNvPr>
          <p:cNvSpPr>
            <a:spLocks noGrp="1"/>
          </p:cNvSpPr>
          <p:nvPr>
            <p:ph type="body" idx="1"/>
          </p:nvPr>
        </p:nvSpPr>
        <p:spPr>
          <a:xfrm>
            <a:off x="762000" y="1447800"/>
            <a:ext cx="6477000" cy="2954655"/>
          </a:xfrm>
        </p:spPr>
        <p:txBody>
          <a:bodyPr/>
          <a:lstStyle/>
          <a:p>
            <a:pPr lvl="0">
              <a:spcBef>
                <a:spcPct val="0"/>
              </a:spcBef>
              <a:buNone/>
            </a:pPr>
            <a:r>
              <a:rPr lang="en-US" dirty="0"/>
              <a:t>The proposed Vienna Rectifier model with integrated Power Factor Correction has been recognized by IFERP for potential publication. An authorship invitation was received for the abstract submission to the 49th World Conference on Applied Science, Engineering, and Technology, highlighting the innovation and academic value of the project.</a:t>
            </a:r>
            <a:endParaRPr lang="en-IN" dirty="0"/>
          </a:p>
        </p:txBody>
      </p:sp>
      <p:sp>
        <p:nvSpPr>
          <p:cNvPr id="12" name="TextBox 11">
            <a:extLst>
              <a:ext uri="{FF2B5EF4-FFF2-40B4-BE49-F238E27FC236}">
                <a16:creationId xmlns:a16="http://schemas.microsoft.com/office/drawing/2014/main" id="{B0E89F45-0CD4-16B1-76A7-DA4EB0CDBEF9}"/>
              </a:ext>
            </a:extLst>
          </p:cNvPr>
          <p:cNvSpPr txBox="1"/>
          <p:nvPr/>
        </p:nvSpPr>
        <p:spPr>
          <a:xfrm>
            <a:off x="5715000" y="6049382"/>
            <a:ext cx="990600" cy="382119"/>
          </a:xfrm>
          <a:prstGeom prst="rect">
            <a:avLst/>
          </a:prstGeom>
          <a:noFill/>
        </p:spPr>
        <p:txBody>
          <a:bodyPr wrap="square" rtlCol="0">
            <a:spAutoFit/>
          </a:bodyPr>
          <a:lstStyle/>
          <a:p>
            <a:r>
              <a:rPr lang="en-IN" dirty="0"/>
              <a:t>15</a:t>
            </a:r>
          </a:p>
        </p:txBody>
      </p:sp>
      <p:pic>
        <p:nvPicPr>
          <p:cNvPr id="5" name="Picture 4" descr="A screenshot of a cell phone&#10;&#10;AI-generated content may be incorrect.">
            <a:extLst>
              <a:ext uri="{FF2B5EF4-FFF2-40B4-BE49-F238E27FC236}">
                <a16:creationId xmlns:a16="http://schemas.microsoft.com/office/drawing/2014/main" id="{1A612B45-77F4-5256-0FA0-1C8C44722B70}"/>
              </a:ext>
            </a:extLst>
          </p:cNvPr>
          <p:cNvPicPr>
            <a:picLocks noChangeAspect="1"/>
          </p:cNvPicPr>
          <p:nvPr/>
        </p:nvPicPr>
        <p:blipFill>
          <a:blip r:embed="rId2">
            <a:extLst>
              <a:ext uri="{28A0092B-C50C-407E-A947-70E740481C1C}">
                <a14:useLocalDpi xmlns:a14="http://schemas.microsoft.com/office/drawing/2010/main" val="0"/>
              </a:ext>
            </a:extLst>
          </a:blip>
          <a:srcRect t="10095" b="14191"/>
          <a:stretch>
            <a:fillRect/>
          </a:stretch>
        </p:blipFill>
        <p:spPr>
          <a:xfrm>
            <a:off x="7696200" y="1223223"/>
            <a:ext cx="3060620" cy="5017218"/>
          </a:xfrm>
          <a:prstGeom prst="rect">
            <a:avLst/>
          </a:prstGeom>
        </p:spPr>
      </p:pic>
    </p:spTree>
    <p:extLst>
      <p:ext uri="{BB962C8B-B14F-4D97-AF65-F5344CB8AC3E}">
        <p14:creationId xmlns:p14="http://schemas.microsoft.com/office/powerpoint/2010/main" val="2658287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43AD0-8605-BD4D-1441-B0BDFF255EA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36F9CC-FA87-B387-2BF3-2914A19D686B}"/>
              </a:ext>
            </a:extLst>
          </p:cNvPr>
          <p:cNvSpPr txBox="1">
            <a:spLocks noGrp="1"/>
          </p:cNvSpPr>
          <p:nvPr>
            <p:ph type="title"/>
          </p:nvPr>
        </p:nvSpPr>
        <p:spPr>
          <a:xfrm>
            <a:off x="2743200" y="284163"/>
            <a:ext cx="6477000" cy="566822"/>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lang="en-IN" sz="3600" spc="-10" dirty="0">
                <a:solidFill>
                  <a:schemeClr val="bg1"/>
                </a:solidFill>
              </a:rPr>
              <a:t>SDG</a:t>
            </a:r>
            <a:endParaRPr sz="3600" dirty="0">
              <a:solidFill>
                <a:schemeClr val="bg1"/>
              </a:solidFill>
            </a:endParaRPr>
          </a:p>
        </p:txBody>
      </p:sp>
      <p:pic>
        <p:nvPicPr>
          <p:cNvPr id="10" name="Picture 9" descr="A yellow sign with white text and a symbol&#10;&#10;AI-generated content may be incorrect.">
            <a:extLst>
              <a:ext uri="{FF2B5EF4-FFF2-40B4-BE49-F238E27FC236}">
                <a16:creationId xmlns:a16="http://schemas.microsoft.com/office/drawing/2014/main" id="{11DAB353-FBC4-6E1C-AE6D-C96ACF65DE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3962400"/>
            <a:ext cx="1752600" cy="1752600"/>
          </a:xfrm>
          <a:prstGeom prst="rect">
            <a:avLst/>
          </a:prstGeom>
        </p:spPr>
      </p:pic>
      <p:pic>
        <p:nvPicPr>
          <p:cNvPr id="12" name="Picture 11" descr="A logo of a company&#10;&#10;AI-generated content may be incorrect.">
            <a:extLst>
              <a:ext uri="{FF2B5EF4-FFF2-40B4-BE49-F238E27FC236}">
                <a16:creationId xmlns:a16="http://schemas.microsoft.com/office/drawing/2014/main" id="{03C3FD19-F5AF-EB27-1EAE-BF07071E26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1600200"/>
            <a:ext cx="1752600" cy="1752600"/>
          </a:xfrm>
          <a:prstGeom prst="rect">
            <a:avLst/>
          </a:prstGeom>
        </p:spPr>
      </p:pic>
      <p:sp>
        <p:nvSpPr>
          <p:cNvPr id="15" name="TextBox 14">
            <a:extLst>
              <a:ext uri="{FF2B5EF4-FFF2-40B4-BE49-F238E27FC236}">
                <a16:creationId xmlns:a16="http://schemas.microsoft.com/office/drawing/2014/main" id="{BB69AD11-D035-937A-1634-319965EACBCC}"/>
              </a:ext>
            </a:extLst>
          </p:cNvPr>
          <p:cNvSpPr txBox="1"/>
          <p:nvPr/>
        </p:nvSpPr>
        <p:spPr>
          <a:xfrm>
            <a:off x="3352800" y="1752600"/>
            <a:ext cx="7086600"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Our project promotes sustainable industrial automation by integrating an efficient rectifier for motor control, supporting innovation in power electronics.</a:t>
            </a:r>
            <a:endParaRPr lang="en-IN" sz="2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D344392-ABF1-7F98-4E4F-F9F32D1DEC7F}"/>
              </a:ext>
            </a:extLst>
          </p:cNvPr>
          <p:cNvSpPr txBox="1"/>
          <p:nvPr/>
        </p:nvSpPr>
        <p:spPr>
          <a:xfrm>
            <a:off x="3352800" y="4072933"/>
            <a:ext cx="6477000"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design reduces energy wastage and harmonic pollution, encouraging sustainable production practices in power-intensive industries.</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16DB4A8-620F-D9A9-D337-987BFD93F42D}"/>
              </a:ext>
            </a:extLst>
          </p:cNvPr>
          <p:cNvSpPr txBox="1"/>
          <p:nvPr/>
        </p:nvSpPr>
        <p:spPr>
          <a:xfrm>
            <a:off x="5981700" y="5943600"/>
            <a:ext cx="914400" cy="369332"/>
          </a:xfrm>
          <a:prstGeom prst="rect">
            <a:avLst/>
          </a:prstGeom>
          <a:noFill/>
        </p:spPr>
        <p:txBody>
          <a:bodyPr wrap="square" rtlCol="0">
            <a:spAutoFit/>
          </a:bodyPr>
          <a:lstStyle/>
          <a:p>
            <a:r>
              <a:rPr lang="en-IN" dirty="0"/>
              <a:t>16</a:t>
            </a:r>
          </a:p>
        </p:txBody>
      </p:sp>
    </p:spTree>
    <p:extLst>
      <p:ext uri="{BB962C8B-B14F-4D97-AF65-F5344CB8AC3E}">
        <p14:creationId xmlns:p14="http://schemas.microsoft.com/office/powerpoint/2010/main" val="1061847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6B09ABA-F9DD-9C0D-63E2-BE78EA2DAECB}"/>
              </a:ext>
            </a:extLst>
          </p:cNvPr>
          <p:cNvSpPr txBox="1">
            <a:spLocks noGrp="1"/>
          </p:cNvSpPr>
          <p:nvPr>
            <p:ph type="title"/>
          </p:nvPr>
        </p:nvSpPr>
        <p:spPr>
          <a:xfrm>
            <a:off x="4649788" y="284164"/>
            <a:ext cx="3122612" cy="574675"/>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sz="3600" spc="-5" dirty="0">
                <a:solidFill>
                  <a:schemeClr val="bg1"/>
                </a:solidFill>
              </a:rPr>
              <a:t>Pl</a:t>
            </a:r>
            <a:r>
              <a:rPr sz="3600" spc="-10" dirty="0">
                <a:solidFill>
                  <a:schemeClr val="bg1"/>
                </a:solidFill>
              </a:rPr>
              <a:t>a</a:t>
            </a:r>
            <a:r>
              <a:rPr sz="3600" dirty="0">
                <a:solidFill>
                  <a:schemeClr val="bg1"/>
                </a:solidFill>
              </a:rPr>
              <a:t>n</a:t>
            </a:r>
            <a:r>
              <a:rPr sz="3600" spc="-10" dirty="0">
                <a:solidFill>
                  <a:schemeClr val="bg1"/>
                </a:solidFill>
              </a:rPr>
              <a:t> </a:t>
            </a:r>
            <a:r>
              <a:rPr sz="3600" dirty="0">
                <a:solidFill>
                  <a:schemeClr val="bg1"/>
                </a:solidFill>
              </a:rPr>
              <a:t>of</a:t>
            </a:r>
            <a:r>
              <a:rPr sz="3600" spc="-204" dirty="0">
                <a:solidFill>
                  <a:schemeClr val="bg1"/>
                </a:solidFill>
              </a:rPr>
              <a:t> </a:t>
            </a:r>
            <a:r>
              <a:rPr sz="3600" spc="-5" dirty="0">
                <a:solidFill>
                  <a:schemeClr val="bg1"/>
                </a:solidFill>
              </a:rPr>
              <a:t>Acti</a:t>
            </a:r>
            <a:r>
              <a:rPr sz="3600" dirty="0">
                <a:solidFill>
                  <a:schemeClr val="bg1"/>
                </a:solidFill>
              </a:rPr>
              <a:t>on</a:t>
            </a:r>
          </a:p>
        </p:txBody>
      </p:sp>
      <p:pic>
        <p:nvPicPr>
          <p:cNvPr id="3" name="Picture 2" descr="A diagram of a timeline&#10;&#10;AI-generated content may be incorrect.">
            <a:extLst>
              <a:ext uri="{FF2B5EF4-FFF2-40B4-BE49-F238E27FC236}">
                <a16:creationId xmlns:a16="http://schemas.microsoft.com/office/drawing/2014/main" id="{1F0F5CE6-1748-3CDC-96EC-1674ECE04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5178" y="1143000"/>
            <a:ext cx="9341644" cy="5022551"/>
          </a:xfrm>
          <a:prstGeom prst="rect">
            <a:avLst/>
          </a:prstGeom>
        </p:spPr>
      </p:pic>
      <p:sp>
        <p:nvSpPr>
          <p:cNvPr id="4" name="TextBox 3">
            <a:extLst>
              <a:ext uri="{FF2B5EF4-FFF2-40B4-BE49-F238E27FC236}">
                <a16:creationId xmlns:a16="http://schemas.microsoft.com/office/drawing/2014/main" id="{2B588BAF-0F83-EA32-E38C-079F0F130EEC}"/>
              </a:ext>
            </a:extLst>
          </p:cNvPr>
          <p:cNvSpPr txBox="1"/>
          <p:nvPr/>
        </p:nvSpPr>
        <p:spPr>
          <a:xfrm>
            <a:off x="1143000" y="4572000"/>
            <a:ext cx="205978" cy="369332"/>
          </a:xfrm>
          <a:prstGeom prst="rect">
            <a:avLst/>
          </a:prstGeom>
          <a:noFill/>
        </p:spPr>
        <p:txBody>
          <a:bodyPr wrap="square" rtlCol="0">
            <a:spAutoFit/>
          </a:bodyPr>
          <a:lstStyle/>
          <a:p>
            <a:r>
              <a:rPr lang="en-IN" dirty="0"/>
              <a:t>S</a:t>
            </a:r>
          </a:p>
        </p:txBody>
      </p:sp>
      <p:sp>
        <p:nvSpPr>
          <p:cNvPr id="5" name="TextBox 4">
            <a:extLst>
              <a:ext uri="{FF2B5EF4-FFF2-40B4-BE49-F238E27FC236}">
                <a16:creationId xmlns:a16="http://schemas.microsoft.com/office/drawing/2014/main" id="{749F8BAD-273A-9F23-6D29-238F8F868E86}"/>
              </a:ext>
            </a:extLst>
          </p:cNvPr>
          <p:cNvSpPr txBox="1"/>
          <p:nvPr/>
        </p:nvSpPr>
        <p:spPr>
          <a:xfrm>
            <a:off x="5943600" y="5980885"/>
            <a:ext cx="914400" cy="369332"/>
          </a:xfrm>
          <a:prstGeom prst="rect">
            <a:avLst/>
          </a:prstGeom>
          <a:noFill/>
        </p:spPr>
        <p:txBody>
          <a:bodyPr wrap="square" rtlCol="0">
            <a:spAutoFit/>
          </a:bodyPr>
          <a:lstStyle/>
          <a:p>
            <a:r>
              <a:rPr lang="en-IN" dirty="0"/>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4C23BCC-A2C0-CE1F-143C-0BA12EED070E}"/>
              </a:ext>
            </a:extLst>
          </p:cNvPr>
          <p:cNvSpPr txBox="1">
            <a:spLocks noGrp="1"/>
          </p:cNvSpPr>
          <p:nvPr>
            <p:ph type="title"/>
          </p:nvPr>
        </p:nvSpPr>
        <p:spPr>
          <a:xfrm>
            <a:off x="4838700" y="228600"/>
            <a:ext cx="2514600" cy="566822"/>
          </a:xfrm>
        </p:spPr>
        <p:txBody>
          <a:bodyPr vert="horz" wrap="square" lIns="0" tIns="12700" rIns="0" bIns="0" numCol="1" rtlCol="0" anchor="t" anchorCtr="0" compatLnSpc="1">
            <a:prstTxWarp prst="textNoShape">
              <a:avLst/>
            </a:prstTxWarp>
            <a:spAutoFit/>
          </a:bodyPr>
          <a:lstStyle/>
          <a:p>
            <a:pPr marL="12700" eaLnBrk="1" fontAlgn="auto" hangingPunct="1">
              <a:spcBef>
                <a:spcPts val="100"/>
              </a:spcBef>
              <a:spcAft>
                <a:spcPts val="0"/>
              </a:spcAft>
              <a:defRPr/>
            </a:pPr>
            <a:r>
              <a:rPr sz="3600" spc="-5" dirty="0">
                <a:solidFill>
                  <a:schemeClr val="bg1"/>
                </a:solidFill>
              </a:rPr>
              <a:t>References</a:t>
            </a:r>
            <a:endParaRPr sz="3600" dirty="0">
              <a:solidFill>
                <a:schemeClr val="bg1"/>
              </a:solidFill>
            </a:endParaRPr>
          </a:p>
        </p:txBody>
      </p:sp>
      <p:sp>
        <p:nvSpPr>
          <p:cNvPr id="4" name="TextBox 3">
            <a:extLst>
              <a:ext uri="{FF2B5EF4-FFF2-40B4-BE49-F238E27FC236}">
                <a16:creationId xmlns:a16="http://schemas.microsoft.com/office/drawing/2014/main" id="{3A09FFD4-0C04-FD7F-467D-80B71B39D312}"/>
              </a:ext>
            </a:extLst>
          </p:cNvPr>
          <p:cNvSpPr txBox="1"/>
          <p:nvPr/>
        </p:nvSpPr>
        <p:spPr>
          <a:xfrm>
            <a:off x="266700" y="1219200"/>
            <a:ext cx="11658600" cy="4924425"/>
          </a:xfrm>
          <a:prstGeom prst="rect">
            <a:avLst/>
          </a:prstGeom>
          <a:noFill/>
        </p:spPr>
        <p:txBody>
          <a:bodyPr wrap="square">
            <a:spAutoFit/>
          </a:bodyPr>
          <a:lstStyle/>
          <a:p>
            <a:pPr marL="342900" indent="-342900">
              <a:buFont typeface="+mj-lt"/>
              <a:buAutoNum type="arabicPeriod"/>
            </a:pPr>
            <a:r>
              <a:rPr lang="en-IN" sz="1600" dirty="0"/>
              <a:t>S. Prakash, R. Kalpana, and B. Singh, “Three-phase Three-level Boost-type Front-end PFC Rectifier for Improving Power Quality at Input AC Mains of Telecom Loads,” </a:t>
            </a:r>
            <a:r>
              <a:rPr lang="en-IN" sz="1600" i="1" dirty="0"/>
              <a:t>Journal of Power Electronics</a:t>
            </a:r>
            <a:r>
              <a:rPr lang="en-IN" sz="1600" dirty="0"/>
              <a:t>, vol. 18, no. 6, pp. 1819–1829, Nov. 2018.</a:t>
            </a:r>
          </a:p>
          <a:p>
            <a:pPr marL="342900" indent="-342900">
              <a:buFont typeface="+mj-lt"/>
              <a:buAutoNum type="arabicPeriod"/>
            </a:pPr>
            <a:r>
              <a:rPr lang="en-IN" sz="1600" dirty="0"/>
              <a:t>D. </a:t>
            </a:r>
            <a:r>
              <a:rPr lang="en-IN" sz="1600" dirty="0" err="1"/>
              <a:t>Balocco</a:t>
            </a:r>
            <a:r>
              <a:rPr lang="en-IN" sz="1600" dirty="0"/>
              <a:t> and O. </a:t>
            </a:r>
            <a:r>
              <a:rPr lang="en-IN" sz="1600" dirty="0" err="1"/>
              <a:t>Filló</a:t>
            </a:r>
            <a:r>
              <a:rPr lang="en-IN" sz="1600" dirty="0"/>
              <a:t>, “Demystifying Three-Phase PFC Topologies,” </a:t>
            </a:r>
            <a:r>
              <a:rPr lang="en-IN" sz="1600" i="1" dirty="0"/>
              <a:t>How2Power Today</a:t>
            </a:r>
            <a:r>
              <a:rPr lang="en-IN" sz="1600" dirty="0"/>
              <a:t>, Feb. 2021.</a:t>
            </a:r>
          </a:p>
          <a:p>
            <a:pPr marL="342900" indent="-342900">
              <a:buFont typeface="+mj-lt"/>
              <a:buAutoNum type="arabicPeriod"/>
            </a:pPr>
            <a:r>
              <a:rPr lang="en-IN" sz="1600" dirty="0"/>
              <a:t>STMicroelectronics, “Three-Phase Vienna Rectifier Design Guide (STDES-VRECTFD, 15 kW Reference Design),” </a:t>
            </a:r>
            <a:r>
              <a:rPr lang="en-IN" sz="1600" i="1" dirty="0"/>
              <a:t>Application Note UM2975</a:t>
            </a:r>
            <a:r>
              <a:rPr lang="en-IN" sz="1600" dirty="0"/>
              <a:t>, Jan. 2022.</a:t>
            </a:r>
          </a:p>
          <a:p>
            <a:pPr marL="342900" indent="-342900">
              <a:buFont typeface="+mj-lt"/>
              <a:buAutoNum type="arabicPeriod"/>
            </a:pPr>
            <a:r>
              <a:rPr lang="en-IN" sz="1600" dirty="0"/>
              <a:t>B. Singh, B. N. Singh, A. Chandra, K. Al-Haddad, A. Pandey, and D. P. Kothari, “A review of three-phase improved power quality AC–DC converters,” </a:t>
            </a:r>
            <a:r>
              <a:rPr lang="en-IN" sz="1600" i="1" dirty="0"/>
              <a:t>IEEE Transactions on Industrial Electronics</a:t>
            </a:r>
            <a:r>
              <a:rPr lang="en-IN" sz="1600" dirty="0"/>
              <a:t>, vol. 51, no. 3, pp. 641–660, Jun. 2004.</a:t>
            </a:r>
          </a:p>
          <a:p>
            <a:pPr marL="342900" indent="-342900">
              <a:buFont typeface="+mj-lt"/>
              <a:buAutoNum type="arabicPeriod"/>
            </a:pPr>
            <a:r>
              <a:rPr lang="en-IN" sz="1600" dirty="0"/>
              <a:t>B. Singh and S. Gairola, “Design and implementation of Vienna rectifier for power factor correction in power systems,” </a:t>
            </a:r>
            <a:r>
              <a:rPr lang="en-IN" sz="1600" i="1" dirty="0"/>
              <a:t>International Journal of Emerging Electric Power Systems</a:t>
            </a:r>
            <a:r>
              <a:rPr lang="en-IN" sz="1600" dirty="0"/>
              <a:t>, vol. 20, no. 5, pp. 1–14, 2019.</a:t>
            </a:r>
          </a:p>
          <a:p>
            <a:pPr marL="342900" indent="-342900">
              <a:buFont typeface="+mj-lt"/>
              <a:buAutoNum type="arabicPeriod"/>
            </a:pPr>
            <a:r>
              <a:rPr lang="en-IN" sz="1600" dirty="0"/>
              <a:t>H. Akagi, E. H. Watanabe, and M. </a:t>
            </a:r>
            <a:r>
              <a:rPr lang="en-IN" sz="1600" dirty="0" err="1"/>
              <a:t>Aredes</a:t>
            </a:r>
            <a:r>
              <a:rPr lang="en-IN" sz="1600" dirty="0"/>
              <a:t>, </a:t>
            </a:r>
            <a:r>
              <a:rPr lang="en-IN" sz="1600" i="1" dirty="0"/>
              <a:t>Instantaneous Power Theory and Applications to Power Conditioning</a:t>
            </a:r>
            <a:r>
              <a:rPr lang="en-IN" sz="1600" dirty="0"/>
              <a:t>, Wiley-IEEE Press, 2007.</a:t>
            </a:r>
          </a:p>
          <a:p>
            <a:pPr marL="342900" indent="-342900">
              <a:buFont typeface="+mj-lt"/>
              <a:buAutoNum type="arabicPeriod"/>
            </a:pPr>
            <a:r>
              <a:rPr lang="en-IN" sz="1600" dirty="0"/>
              <a:t>IEEE Standard 519-2014, “IEEE Recommended Practice and Requirements for Harmonic Control in Electric Power Systems,” IEEE Power and Energy Society, 2014.</a:t>
            </a:r>
          </a:p>
          <a:p>
            <a:pPr marL="342900" indent="-342900">
              <a:buFont typeface="+mj-lt"/>
              <a:buAutoNum type="arabicPeriod"/>
            </a:pPr>
            <a:r>
              <a:rPr lang="en-IN" sz="1600" dirty="0"/>
              <a:t>IEC 61000-3-2, “Electromagnetic Compatibility (EMC) – Part 3-2: Limits for Harmonic Current Emissions,” International Electrotechnical Commission, 2018.</a:t>
            </a:r>
          </a:p>
          <a:p>
            <a:pPr marL="342900" indent="-342900">
              <a:buFont typeface="+mj-lt"/>
              <a:buAutoNum type="arabicPeriod"/>
            </a:pPr>
            <a:r>
              <a:rPr lang="en-IN" sz="1600" dirty="0"/>
              <a:t>J. W. Kolar and F. C. Zach, “A novel three-phase utility interface minimizing line current harmonics of high-power telecommunications rectifier modules,” </a:t>
            </a:r>
            <a:r>
              <a:rPr lang="en-IN" sz="1600" i="1" dirty="0"/>
              <a:t>IEEE Transactions on Industrial Electronics</a:t>
            </a:r>
            <a:r>
              <a:rPr lang="en-IN" sz="1600" dirty="0"/>
              <a:t>, vol. 44, no. 4, pp. 456–467, Aug. 1997.</a:t>
            </a:r>
          </a:p>
          <a:p>
            <a:pPr marL="342900" indent="-342900">
              <a:buFont typeface="+mj-lt"/>
              <a:buAutoNum type="arabicPeriod"/>
            </a:pPr>
            <a:r>
              <a:rPr lang="en-IN" sz="1600" dirty="0"/>
              <a:t>Project Document: </a:t>
            </a:r>
            <a:r>
              <a:rPr lang="en-IN" sz="1600" i="1" dirty="0"/>
              <a:t>Design and Implementation of a High-Efficiency Three-Phase Vienna Rectifier with PFC and Three-Phase Inverter</a:t>
            </a:r>
            <a:r>
              <a:rPr lang="en-IN" sz="1600" dirty="0"/>
              <a:t>, Mini Project Report, 2025.</a:t>
            </a:r>
          </a:p>
          <a:p>
            <a:endParaRPr lang="en-IN" sz="1000" dirty="0">
              <a:latin typeface="+mj-lt"/>
            </a:endParaRPr>
          </a:p>
        </p:txBody>
      </p:sp>
      <p:sp>
        <p:nvSpPr>
          <p:cNvPr id="3" name="TextBox 2">
            <a:extLst>
              <a:ext uri="{FF2B5EF4-FFF2-40B4-BE49-F238E27FC236}">
                <a16:creationId xmlns:a16="http://schemas.microsoft.com/office/drawing/2014/main" id="{6A9476FA-2DFE-8784-63A3-BEF4B57ADCDF}"/>
              </a:ext>
            </a:extLst>
          </p:cNvPr>
          <p:cNvSpPr txBox="1"/>
          <p:nvPr/>
        </p:nvSpPr>
        <p:spPr>
          <a:xfrm>
            <a:off x="5867400" y="5958959"/>
            <a:ext cx="914400" cy="369332"/>
          </a:xfrm>
          <a:prstGeom prst="rect">
            <a:avLst/>
          </a:prstGeom>
          <a:noFill/>
        </p:spPr>
        <p:txBody>
          <a:bodyPr wrap="square" rtlCol="0">
            <a:spAutoFit/>
          </a:bodyPr>
          <a:lstStyle/>
          <a:p>
            <a:r>
              <a:rPr lang="en-IN" dirty="0"/>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3104</TotalTime>
  <Words>1707</Words>
  <Application>Microsoft Office PowerPoint</Application>
  <PresentationFormat>Widescreen</PresentationFormat>
  <Paragraphs>180</Paragraphs>
  <Slides>17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Motivation and Application </vt:lpstr>
      <vt:lpstr>Objectives </vt:lpstr>
      <vt:lpstr>Description </vt:lpstr>
      <vt:lpstr>Literature Survey</vt:lpstr>
      <vt:lpstr>Flowchart and Block diagram  </vt:lpstr>
      <vt:lpstr>PowerPoint Presentation</vt:lpstr>
      <vt:lpstr>Simulation Blocks:</vt:lpstr>
      <vt:lpstr>Simulation Blocks:</vt:lpstr>
      <vt:lpstr>Methodology</vt:lpstr>
      <vt:lpstr>Output </vt:lpstr>
      <vt:lpstr>Output Graph</vt:lpstr>
      <vt:lpstr>Why Vienna?</vt:lpstr>
      <vt:lpstr>Active Participation</vt:lpstr>
      <vt:lpstr>SDG</vt:lpstr>
      <vt:lpstr>Plan of Action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Saghana Senthil</cp:lastModifiedBy>
  <cp:revision>33</cp:revision>
  <dcterms:created xsi:type="dcterms:W3CDTF">2024-07-24T07:52:19Z</dcterms:created>
  <dcterms:modified xsi:type="dcterms:W3CDTF">2025-11-04T06:42:49Z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2023-08-01T00:00:00Z</vt:filetime>
  </property>
  <property fmtid="{D5CDD505-2E9C-101B-9397-08002B2CF9AE}" pid="3" name="Creator">
    <vt:lpwstr>Impress</vt:lpwstr>
  </property>
  <property fmtid="{D5CDD505-2E9C-101B-9397-08002B2CF9AE}" pid="4" name="LastSaved">
    <vt:filetime>2023-08-01T00:00:00Z</vt:filetime>
  </property>
</Properties>
</file>